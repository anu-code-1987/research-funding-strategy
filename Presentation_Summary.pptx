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7"/>
  </p:notesMasterIdLst>
  <p:sldIdLst>
    <p:sldId id="312" r:id="rId5"/>
    <p:sldId id="370" r:id="rId6"/>
    <p:sldId id="340" r:id="rId7"/>
    <p:sldId id="368" r:id="rId8"/>
    <p:sldId id="365" r:id="rId9"/>
    <p:sldId id="369" r:id="rId10"/>
    <p:sldId id="373" r:id="rId11"/>
    <p:sldId id="374" r:id="rId12"/>
    <p:sldId id="375" r:id="rId13"/>
    <p:sldId id="376" r:id="rId14"/>
    <p:sldId id="372" r:id="rId15"/>
    <p:sldId id="366"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F3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4" autoAdjust="0"/>
    <p:restoredTop sz="94444" autoAdjust="0"/>
  </p:normalViewPr>
  <p:slideViewPr>
    <p:cSldViewPr snapToGrid="0">
      <p:cViewPr varScale="1">
        <p:scale>
          <a:sx n="74" d="100"/>
          <a:sy n="74" d="100"/>
        </p:scale>
        <p:origin x="994"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5E3EDCD-0616-4763-9CE2-4E7FD64BD96D}" type="doc">
      <dgm:prSet loTypeId="urn:microsoft.com/office/officeart/2008/layout/LinedList" loCatId="list" qsTypeId="urn:microsoft.com/office/officeart/2005/8/quickstyle/simple1" qsCatId="simple" csTypeId="urn:microsoft.com/office/officeart/2005/8/colors/accent3_2" csCatId="accent3"/>
      <dgm:spPr/>
      <dgm:t>
        <a:bodyPr/>
        <a:lstStyle/>
        <a:p>
          <a:endParaRPr lang="en-US"/>
        </a:p>
      </dgm:t>
    </dgm:pt>
    <dgm:pt modelId="{41A82393-2073-4077-92B4-E84217B0753C}">
      <dgm:prSet/>
      <dgm:spPr/>
      <dgm:t>
        <a:bodyPr/>
        <a:lstStyle/>
        <a:p>
          <a:r>
            <a:rPr lang="en-US" b="1"/>
            <a:t>EXECUTIVE SUMMARY </a:t>
          </a:r>
          <a:endParaRPr lang="en-US"/>
        </a:p>
      </dgm:t>
    </dgm:pt>
    <dgm:pt modelId="{70C30113-CBD1-4CAE-852C-99C20214D15D}" type="parTrans" cxnId="{22C8B8D8-4D17-43F4-B071-8873354106BE}">
      <dgm:prSet/>
      <dgm:spPr/>
      <dgm:t>
        <a:bodyPr/>
        <a:lstStyle/>
        <a:p>
          <a:endParaRPr lang="en-US"/>
        </a:p>
      </dgm:t>
    </dgm:pt>
    <dgm:pt modelId="{CDAF46BD-E72D-4826-BD39-9F04A652E893}" type="sibTrans" cxnId="{22C8B8D8-4D17-43F4-B071-8873354106BE}">
      <dgm:prSet/>
      <dgm:spPr/>
      <dgm:t>
        <a:bodyPr/>
        <a:lstStyle/>
        <a:p>
          <a:endParaRPr lang="en-US"/>
        </a:p>
      </dgm:t>
    </dgm:pt>
    <dgm:pt modelId="{068B70FD-C78C-4EEB-B7C0-B8D172C1F7E2}">
      <dgm:prSet/>
      <dgm:spPr/>
      <dgm:t>
        <a:bodyPr/>
        <a:lstStyle/>
        <a:p>
          <a:r>
            <a:rPr lang="en-US" b="1"/>
            <a:t>PROBLEM STATEMENT</a:t>
          </a:r>
          <a:endParaRPr lang="en-US"/>
        </a:p>
      </dgm:t>
    </dgm:pt>
    <dgm:pt modelId="{D7DE018D-49CB-4895-9D2E-30E09263FCA5}" type="parTrans" cxnId="{76DC5B2C-1904-4630-9B1C-52B3CDE8819C}">
      <dgm:prSet/>
      <dgm:spPr/>
      <dgm:t>
        <a:bodyPr/>
        <a:lstStyle/>
        <a:p>
          <a:endParaRPr lang="en-US"/>
        </a:p>
      </dgm:t>
    </dgm:pt>
    <dgm:pt modelId="{201CE810-CCEF-4FEA-A7EA-C8F60F4BA819}" type="sibTrans" cxnId="{76DC5B2C-1904-4630-9B1C-52B3CDE8819C}">
      <dgm:prSet/>
      <dgm:spPr/>
      <dgm:t>
        <a:bodyPr/>
        <a:lstStyle/>
        <a:p>
          <a:endParaRPr lang="en-US"/>
        </a:p>
      </dgm:t>
    </dgm:pt>
    <dgm:pt modelId="{15F85CD7-A6D5-4A77-8088-055285E44342}">
      <dgm:prSet/>
      <dgm:spPr/>
      <dgm:t>
        <a:bodyPr/>
        <a:lstStyle/>
        <a:p>
          <a:r>
            <a:rPr lang="en-US" b="1" dirty="0"/>
            <a:t>DASHBOARD</a:t>
          </a:r>
          <a:endParaRPr lang="en-US" dirty="0"/>
        </a:p>
      </dgm:t>
    </dgm:pt>
    <dgm:pt modelId="{3E4089F0-0FDD-43E9-9F6B-2935C81BFD0B}" type="parTrans" cxnId="{5524D491-DE84-4E84-AAA2-BD212BF81187}">
      <dgm:prSet/>
      <dgm:spPr/>
      <dgm:t>
        <a:bodyPr/>
        <a:lstStyle/>
        <a:p>
          <a:endParaRPr lang="en-US"/>
        </a:p>
      </dgm:t>
    </dgm:pt>
    <dgm:pt modelId="{236F2BCD-BDD5-4080-BEE7-A365979F8AA7}" type="sibTrans" cxnId="{5524D491-DE84-4E84-AAA2-BD212BF81187}">
      <dgm:prSet/>
      <dgm:spPr/>
      <dgm:t>
        <a:bodyPr/>
        <a:lstStyle/>
        <a:p>
          <a:endParaRPr lang="en-US"/>
        </a:p>
      </dgm:t>
    </dgm:pt>
    <dgm:pt modelId="{C478A6C6-6F21-4A8C-8D21-09E55EC4F239}">
      <dgm:prSet/>
      <dgm:spPr/>
      <dgm:t>
        <a:bodyPr/>
        <a:lstStyle/>
        <a:p>
          <a:r>
            <a:rPr lang="en-US" b="1"/>
            <a:t>RECOMMENDATION</a:t>
          </a:r>
          <a:endParaRPr lang="en-US"/>
        </a:p>
      </dgm:t>
    </dgm:pt>
    <dgm:pt modelId="{E7060968-4438-41BB-84A2-8EB7E3ED95E0}" type="parTrans" cxnId="{EA7FD3DA-E931-411A-AE38-3FBD59147CE2}">
      <dgm:prSet/>
      <dgm:spPr/>
      <dgm:t>
        <a:bodyPr/>
        <a:lstStyle/>
        <a:p>
          <a:endParaRPr lang="en-US"/>
        </a:p>
      </dgm:t>
    </dgm:pt>
    <dgm:pt modelId="{FD77187E-B653-4263-8443-1ADC5C4B7003}" type="sibTrans" cxnId="{EA7FD3DA-E931-411A-AE38-3FBD59147CE2}">
      <dgm:prSet/>
      <dgm:spPr/>
      <dgm:t>
        <a:bodyPr/>
        <a:lstStyle/>
        <a:p>
          <a:endParaRPr lang="en-US"/>
        </a:p>
      </dgm:t>
    </dgm:pt>
    <dgm:pt modelId="{32576A43-3372-4E33-8B27-EDA8D298BEFD}" type="pres">
      <dgm:prSet presAssocID="{F5E3EDCD-0616-4763-9CE2-4E7FD64BD96D}" presName="vert0" presStyleCnt="0">
        <dgm:presLayoutVars>
          <dgm:dir/>
          <dgm:animOne val="branch"/>
          <dgm:animLvl val="lvl"/>
        </dgm:presLayoutVars>
      </dgm:prSet>
      <dgm:spPr/>
    </dgm:pt>
    <dgm:pt modelId="{0B084CB5-2491-46F3-8376-95D1DED4B507}" type="pres">
      <dgm:prSet presAssocID="{41A82393-2073-4077-92B4-E84217B0753C}" presName="thickLine" presStyleLbl="alignNode1" presStyleIdx="0" presStyleCnt="4"/>
      <dgm:spPr/>
    </dgm:pt>
    <dgm:pt modelId="{36AC81CD-9D7C-40A0-9964-25D2D30D8722}" type="pres">
      <dgm:prSet presAssocID="{41A82393-2073-4077-92B4-E84217B0753C}" presName="horz1" presStyleCnt="0"/>
      <dgm:spPr/>
    </dgm:pt>
    <dgm:pt modelId="{0C5F134F-FBEA-4B46-AEAF-EF23E2548B6F}" type="pres">
      <dgm:prSet presAssocID="{41A82393-2073-4077-92B4-E84217B0753C}" presName="tx1" presStyleLbl="revTx" presStyleIdx="0" presStyleCnt="4"/>
      <dgm:spPr/>
    </dgm:pt>
    <dgm:pt modelId="{D92AA48A-B0EC-4124-9D11-E9C01884546D}" type="pres">
      <dgm:prSet presAssocID="{41A82393-2073-4077-92B4-E84217B0753C}" presName="vert1" presStyleCnt="0"/>
      <dgm:spPr/>
    </dgm:pt>
    <dgm:pt modelId="{8EA84E8B-B78F-4F9E-9CB1-194FC4FCC2BC}" type="pres">
      <dgm:prSet presAssocID="{068B70FD-C78C-4EEB-B7C0-B8D172C1F7E2}" presName="thickLine" presStyleLbl="alignNode1" presStyleIdx="1" presStyleCnt="4"/>
      <dgm:spPr/>
    </dgm:pt>
    <dgm:pt modelId="{BCAE0484-FB9C-479E-AA60-6984A9DE4F74}" type="pres">
      <dgm:prSet presAssocID="{068B70FD-C78C-4EEB-B7C0-B8D172C1F7E2}" presName="horz1" presStyleCnt="0"/>
      <dgm:spPr/>
    </dgm:pt>
    <dgm:pt modelId="{24964705-DEA4-42F8-8D0A-4712A17B9552}" type="pres">
      <dgm:prSet presAssocID="{068B70FD-C78C-4EEB-B7C0-B8D172C1F7E2}" presName="tx1" presStyleLbl="revTx" presStyleIdx="1" presStyleCnt="4"/>
      <dgm:spPr/>
    </dgm:pt>
    <dgm:pt modelId="{E5BD2640-3902-498B-A286-AA169B3D9AF4}" type="pres">
      <dgm:prSet presAssocID="{068B70FD-C78C-4EEB-B7C0-B8D172C1F7E2}" presName="vert1" presStyleCnt="0"/>
      <dgm:spPr/>
    </dgm:pt>
    <dgm:pt modelId="{E39A8167-BB4B-4F20-9062-C8332C039206}" type="pres">
      <dgm:prSet presAssocID="{15F85CD7-A6D5-4A77-8088-055285E44342}" presName="thickLine" presStyleLbl="alignNode1" presStyleIdx="2" presStyleCnt="4"/>
      <dgm:spPr/>
    </dgm:pt>
    <dgm:pt modelId="{75E43D74-4021-4413-810E-8D45D3155ED8}" type="pres">
      <dgm:prSet presAssocID="{15F85CD7-A6D5-4A77-8088-055285E44342}" presName="horz1" presStyleCnt="0"/>
      <dgm:spPr/>
    </dgm:pt>
    <dgm:pt modelId="{3AF8E4B6-5CD9-4A85-8A6B-5D8FD45F13F4}" type="pres">
      <dgm:prSet presAssocID="{15F85CD7-A6D5-4A77-8088-055285E44342}" presName="tx1" presStyleLbl="revTx" presStyleIdx="2" presStyleCnt="4"/>
      <dgm:spPr/>
    </dgm:pt>
    <dgm:pt modelId="{44776D9D-6EE1-44F5-B5F2-D19D28A08292}" type="pres">
      <dgm:prSet presAssocID="{15F85CD7-A6D5-4A77-8088-055285E44342}" presName="vert1" presStyleCnt="0"/>
      <dgm:spPr/>
    </dgm:pt>
    <dgm:pt modelId="{652BC513-CFDB-439F-813D-9CE774383942}" type="pres">
      <dgm:prSet presAssocID="{C478A6C6-6F21-4A8C-8D21-09E55EC4F239}" presName="thickLine" presStyleLbl="alignNode1" presStyleIdx="3" presStyleCnt="4"/>
      <dgm:spPr/>
    </dgm:pt>
    <dgm:pt modelId="{1BF8A9D1-49BF-4761-ABCF-9A3F7CDC6C68}" type="pres">
      <dgm:prSet presAssocID="{C478A6C6-6F21-4A8C-8D21-09E55EC4F239}" presName="horz1" presStyleCnt="0"/>
      <dgm:spPr/>
    </dgm:pt>
    <dgm:pt modelId="{9CAFC0E2-982F-4529-BE41-E969B50B8289}" type="pres">
      <dgm:prSet presAssocID="{C478A6C6-6F21-4A8C-8D21-09E55EC4F239}" presName="tx1" presStyleLbl="revTx" presStyleIdx="3" presStyleCnt="4"/>
      <dgm:spPr/>
    </dgm:pt>
    <dgm:pt modelId="{6CAE7ADB-2B9D-4405-8C3B-D640A084CD89}" type="pres">
      <dgm:prSet presAssocID="{C478A6C6-6F21-4A8C-8D21-09E55EC4F239}" presName="vert1" presStyleCnt="0"/>
      <dgm:spPr/>
    </dgm:pt>
  </dgm:ptLst>
  <dgm:cxnLst>
    <dgm:cxn modelId="{EACD4022-8308-4828-BD95-D348F1606A3D}" type="presOf" srcId="{41A82393-2073-4077-92B4-E84217B0753C}" destId="{0C5F134F-FBEA-4B46-AEAF-EF23E2548B6F}" srcOrd="0" destOrd="0" presId="urn:microsoft.com/office/officeart/2008/layout/LinedList"/>
    <dgm:cxn modelId="{76DC5B2C-1904-4630-9B1C-52B3CDE8819C}" srcId="{F5E3EDCD-0616-4763-9CE2-4E7FD64BD96D}" destId="{068B70FD-C78C-4EEB-B7C0-B8D172C1F7E2}" srcOrd="1" destOrd="0" parTransId="{D7DE018D-49CB-4895-9D2E-30E09263FCA5}" sibTransId="{201CE810-CCEF-4FEA-A7EA-C8F60F4BA819}"/>
    <dgm:cxn modelId="{A66DAA31-CEF9-4819-AE1D-3E7BDEC0A858}" type="presOf" srcId="{068B70FD-C78C-4EEB-B7C0-B8D172C1F7E2}" destId="{24964705-DEA4-42F8-8D0A-4712A17B9552}" srcOrd="0" destOrd="0" presId="urn:microsoft.com/office/officeart/2008/layout/LinedList"/>
    <dgm:cxn modelId="{5524D491-DE84-4E84-AAA2-BD212BF81187}" srcId="{F5E3EDCD-0616-4763-9CE2-4E7FD64BD96D}" destId="{15F85CD7-A6D5-4A77-8088-055285E44342}" srcOrd="2" destOrd="0" parTransId="{3E4089F0-0FDD-43E9-9F6B-2935C81BFD0B}" sibTransId="{236F2BCD-BDD5-4080-BEE7-A365979F8AA7}"/>
    <dgm:cxn modelId="{144D2399-0478-4748-8CD9-DC638EB86413}" type="presOf" srcId="{C478A6C6-6F21-4A8C-8D21-09E55EC4F239}" destId="{9CAFC0E2-982F-4529-BE41-E969B50B8289}" srcOrd="0" destOrd="0" presId="urn:microsoft.com/office/officeart/2008/layout/LinedList"/>
    <dgm:cxn modelId="{22C8B8D8-4D17-43F4-B071-8873354106BE}" srcId="{F5E3EDCD-0616-4763-9CE2-4E7FD64BD96D}" destId="{41A82393-2073-4077-92B4-E84217B0753C}" srcOrd="0" destOrd="0" parTransId="{70C30113-CBD1-4CAE-852C-99C20214D15D}" sibTransId="{CDAF46BD-E72D-4826-BD39-9F04A652E893}"/>
    <dgm:cxn modelId="{EA7FD3DA-E931-411A-AE38-3FBD59147CE2}" srcId="{F5E3EDCD-0616-4763-9CE2-4E7FD64BD96D}" destId="{C478A6C6-6F21-4A8C-8D21-09E55EC4F239}" srcOrd="3" destOrd="0" parTransId="{E7060968-4438-41BB-84A2-8EB7E3ED95E0}" sibTransId="{FD77187E-B653-4263-8443-1ADC5C4B7003}"/>
    <dgm:cxn modelId="{C2E1F1DF-F3CF-489B-84C6-65D8AECDF3FD}" type="presOf" srcId="{15F85CD7-A6D5-4A77-8088-055285E44342}" destId="{3AF8E4B6-5CD9-4A85-8A6B-5D8FD45F13F4}" srcOrd="0" destOrd="0" presId="urn:microsoft.com/office/officeart/2008/layout/LinedList"/>
    <dgm:cxn modelId="{F14B7DEA-0879-4823-AB1A-31729E48F1FC}" type="presOf" srcId="{F5E3EDCD-0616-4763-9CE2-4E7FD64BD96D}" destId="{32576A43-3372-4E33-8B27-EDA8D298BEFD}" srcOrd="0" destOrd="0" presId="urn:microsoft.com/office/officeart/2008/layout/LinedList"/>
    <dgm:cxn modelId="{6A77ADF1-204D-47B0-B2C9-E4857BAEDDB9}" type="presParOf" srcId="{32576A43-3372-4E33-8B27-EDA8D298BEFD}" destId="{0B084CB5-2491-46F3-8376-95D1DED4B507}" srcOrd="0" destOrd="0" presId="urn:microsoft.com/office/officeart/2008/layout/LinedList"/>
    <dgm:cxn modelId="{7C14B263-1EC6-4C1E-B892-5B3F3AD45EB9}" type="presParOf" srcId="{32576A43-3372-4E33-8B27-EDA8D298BEFD}" destId="{36AC81CD-9D7C-40A0-9964-25D2D30D8722}" srcOrd="1" destOrd="0" presId="urn:microsoft.com/office/officeart/2008/layout/LinedList"/>
    <dgm:cxn modelId="{FB7B9C6B-1619-4E2B-B3EB-9F454EDAA747}" type="presParOf" srcId="{36AC81CD-9D7C-40A0-9964-25D2D30D8722}" destId="{0C5F134F-FBEA-4B46-AEAF-EF23E2548B6F}" srcOrd="0" destOrd="0" presId="urn:microsoft.com/office/officeart/2008/layout/LinedList"/>
    <dgm:cxn modelId="{6A7648D6-83EF-4A28-9A0D-ECFFA8D2F862}" type="presParOf" srcId="{36AC81CD-9D7C-40A0-9964-25D2D30D8722}" destId="{D92AA48A-B0EC-4124-9D11-E9C01884546D}" srcOrd="1" destOrd="0" presId="urn:microsoft.com/office/officeart/2008/layout/LinedList"/>
    <dgm:cxn modelId="{2180AD62-F1C9-44D5-8387-72D4D28EEBBF}" type="presParOf" srcId="{32576A43-3372-4E33-8B27-EDA8D298BEFD}" destId="{8EA84E8B-B78F-4F9E-9CB1-194FC4FCC2BC}" srcOrd="2" destOrd="0" presId="urn:microsoft.com/office/officeart/2008/layout/LinedList"/>
    <dgm:cxn modelId="{0E89191B-94D3-41A1-A1D3-3C73346F2BA0}" type="presParOf" srcId="{32576A43-3372-4E33-8B27-EDA8D298BEFD}" destId="{BCAE0484-FB9C-479E-AA60-6984A9DE4F74}" srcOrd="3" destOrd="0" presId="urn:microsoft.com/office/officeart/2008/layout/LinedList"/>
    <dgm:cxn modelId="{AB319CA7-3522-4669-9FAE-A5359B907AA9}" type="presParOf" srcId="{BCAE0484-FB9C-479E-AA60-6984A9DE4F74}" destId="{24964705-DEA4-42F8-8D0A-4712A17B9552}" srcOrd="0" destOrd="0" presId="urn:microsoft.com/office/officeart/2008/layout/LinedList"/>
    <dgm:cxn modelId="{58EB85B7-4744-49DF-BB34-7B7065B4EC6C}" type="presParOf" srcId="{BCAE0484-FB9C-479E-AA60-6984A9DE4F74}" destId="{E5BD2640-3902-498B-A286-AA169B3D9AF4}" srcOrd="1" destOrd="0" presId="urn:microsoft.com/office/officeart/2008/layout/LinedList"/>
    <dgm:cxn modelId="{2A6CB51F-C65B-467C-BA49-09B80642D1CC}" type="presParOf" srcId="{32576A43-3372-4E33-8B27-EDA8D298BEFD}" destId="{E39A8167-BB4B-4F20-9062-C8332C039206}" srcOrd="4" destOrd="0" presId="urn:microsoft.com/office/officeart/2008/layout/LinedList"/>
    <dgm:cxn modelId="{1BC84616-1D9C-413D-A329-60974317DC06}" type="presParOf" srcId="{32576A43-3372-4E33-8B27-EDA8D298BEFD}" destId="{75E43D74-4021-4413-810E-8D45D3155ED8}" srcOrd="5" destOrd="0" presId="urn:microsoft.com/office/officeart/2008/layout/LinedList"/>
    <dgm:cxn modelId="{B89CC3E1-B23A-42B6-9A5C-FE6392FFF834}" type="presParOf" srcId="{75E43D74-4021-4413-810E-8D45D3155ED8}" destId="{3AF8E4B6-5CD9-4A85-8A6B-5D8FD45F13F4}" srcOrd="0" destOrd="0" presId="urn:microsoft.com/office/officeart/2008/layout/LinedList"/>
    <dgm:cxn modelId="{220122AD-ABCB-46B5-B488-0632B79EB97E}" type="presParOf" srcId="{75E43D74-4021-4413-810E-8D45D3155ED8}" destId="{44776D9D-6EE1-44F5-B5F2-D19D28A08292}" srcOrd="1" destOrd="0" presId="urn:microsoft.com/office/officeart/2008/layout/LinedList"/>
    <dgm:cxn modelId="{782B19F5-E38D-4F16-8937-A812ED6E03F1}" type="presParOf" srcId="{32576A43-3372-4E33-8B27-EDA8D298BEFD}" destId="{652BC513-CFDB-439F-813D-9CE774383942}" srcOrd="6" destOrd="0" presId="urn:microsoft.com/office/officeart/2008/layout/LinedList"/>
    <dgm:cxn modelId="{A2470AC8-5140-4C84-BC8A-BBC4E2A87AE0}" type="presParOf" srcId="{32576A43-3372-4E33-8B27-EDA8D298BEFD}" destId="{1BF8A9D1-49BF-4761-ABCF-9A3F7CDC6C68}" srcOrd="7" destOrd="0" presId="urn:microsoft.com/office/officeart/2008/layout/LinedList"/>
    <dgm:cxn modelId="{63C91FF3-A2F2-452F-8AF6-B6EAF6AC0881}" type="presParOf" srcId="{1BF8A9D1-49BF-4761-ABCF-9A3F7CDC6C68}" destId="{9CAFC0E2-982F-4529-BE41-E969B50B8289}" srcOrd="0" destOrd="0" presId="urn:microsoft.com/office/officeart/2008/layout/LinedList"/>
    <dgm:cxn modelId="{AA3BAF76-A2C2-4318-ABD3-CFC6FF00BC96}" type="presParOf" srcId="{1BF8A9D1-49BF-4761-ABCF-9A3F7CDC6C68}" destId="{6CAE7ADB-2B9D-4405-8C3B-D640A084CD89}"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084CB5-2491-46F3-8376-95D1DED4B507}">
      <dsp:nvSpPr>
        <dsp:cNvPr id="0" name=""/>
        <dsp:cNvSpPr/>
      </dsp:nvSpPr>
      <dsp:spPr>
        <a:xfrm>
          <a:off x="0" y="0"/>
          <a:ext cx="7965460"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C5F134F-FBEA-4B46-AEAF-EF23E2548B6F}">
      <dsp:nvSpPr>
        <dsp:cNvPr id="0" name=""/>
        <dsp:cNvSpPr/>
      </dsp:nvSpPr>
      <dsp:spPr>
        <a:xfrm>
          <a:off x="0" y="0"/>
          <a:ext cx="7965460" cy="8744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b="1" kern="1200"/>
            <a:t>EXECUTIVE SUMMARY </a:t>
          </a:r>
          <a:endParaRPr lang="en-US" sz="3600" kern="1200"/>
        </a:p>
      </dsp:txBody>
      <dsp:txXfrm>
        <a:off x="0" y="0"/>
        <a:ext cx="7965460" cy="874424"/>
      </dsp:txXfrm>
    </dsp:sp>
    <dsp:sp modelId="{8EA84E8B-B78F-4F9E-9CB1-194FC4FCC2BC}">
      <dsp:nvSpPr>
        <dsp:cNvPr id="0" name=""/>
        <dsp:cNvSpPr/>
      </dsp:nvSpPr>
      <dsp:spPr>
        <a:xfrm>
          <a:off x="0" y="874424"/>
          <a:ext cx="7965460"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4964705-DEA4-42F8-8D0A-4712A17B9552}">
      <dsp:nvSpPr>
        <dsp:cNvPr id="0" name=""/>
        <dsp:cNvSpPr/>
      </dsp:nvSpPr>
      <dsp:spPr>
        <a:xfrm>
          <a:off x="0" y="874424"/>
          <a:ext cx="7965460" cy="8744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b="1" kern="1200"/>
            <a:t>PROBLEM STATEMENT</a:t>
          </a:r>
          <a:endParaRPr lang="en-US" sz="3600" kern="1200"/>
        </a:p>
      </dsp:txBody>
      <dsp:txXfrm>
        <a:off x="0" y="874424"/>
        <a:ext cx="7965460" cy="874424"/>
      </dsp:txXfrm>
    </dsp:sp>
    <dsp:sp modelId="{E39A8167-BB4B-4F20-9062-C8332C039206}">
      <dsp:nvSpPr>
        <dsp:cNvPr id="0" name=""/>
        <dsp:cNvSpPr/>
      </dsp:nvSpPr>
      <dsp:spPr>
        <a:xfrm>
          <a:off x="0" y="1748848"/>
          <a:ext cx="7965460"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AF8E4B6-5CD9-4A85-8A6B-5D8FD45F13F4}">
      <dsp:nvSpPr>
        <dsp:cNvPr id="0" name=""/>
        <dsp:cNvSpPr/>
      </dsp:nvSpPr>
      <dsp:spPr>
        <a:xfrm>
          <a:off x="0" y="1748849"/>
          <a:ext cx="7965460" cy="8744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b="1" kern="1200" dirty="0"/>
            <a:t>DASHBOARD</a:t>
          </a:r>
          <a:endParaRPr lang="en-US" sz="3600" kern="1200" dirty="0"/>
        </a:p>
      </dsp:txBody>
      <dsp:txXfrm>
        <a:off x="0" y="1748849"/>
        <a:ext cx="7965460" cy="874424"/>
      </dsp:txXfrm>
    </dsp:sp>
    <dsp:sp modelId="{652BC513-CFDB-439F-813D-9CE774383942}">
      <dsp:nvSpPr>
        <dsp:cNvPr id="0" name=""/>
        <dsp:cNvSpPr/>
      </dsp:nvSpPr>
      <dsp:spPr>
        <a:xfrm>
          <a:off x="0" y="2623273"/>
          <a:ext cx="7965460"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CAFC0E2-982F-4529-BE41-E969B50B8289}">
      <dsp:nvSpPr>
        <dsp:cNvPr id="0" name=""/>
        <dsp:cNvSpPr/>
      </dsp:nvSpPr>
      <dsp:spPr>
        <a:xfrm>
          <a:off x="0" y="2623273"/>
          <a:ext cx="7965460" cy="8744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b="1" kern="1200"/>
            <a:t>RECOMMENDATION</a:t>
          </a:r>
          <a:endParaRPr lang="en-US" sz="3600" kern="1200"/>
        </a:p>
      </dsp:txBody>
      <dsp:txXfrm>
        <a:off x="0" y="2623273"/>
        <a:ext cx="7965460" cy="874424"/>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3AF496-90A0-495F-B207-256E96FDF354}" type="datetimeFigureOut">
              <a:rPr lang="en-CA" smtClean="0"/>
              <a:t>2025-05-02</a:t>
            </a:fld>
            <a:endParaRPr lang="en-CA"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810FCF-0F42-4FA7-A657-EEF6C47E4C07}" type="slidenum">
              <a:rPr lang="en-CA" smtClean="0"/>
              <a:t>‹#›</a:t>
            </a:fld>
            <a:endParaRPr lang="en-CA" dirty="0"/>
          </a:p>
        </p:txBody>
      </p:sp>
    </p:spTree>
    <p:extLst>
      <p:ext uri="{BB962C8B-B14F-4D97-AF65-F5344CB8AC3E}">
        <p14:creationId xmlns:p14="http://schemas.microsoft.com/office/powerpoint/2010/main" val="18995112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9976548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424772409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20349DE2-61A7-4946-ACA8-415CAE178D2B}" type="slidenum">
              <a:rPr lang="en-CA" smtClean="0"/>
              <a:t>‹#›</a:t>
            </a:fld>
            <a:endParaRPr lang="en-CA" dirty="0"/>
          </a:p>
        </p:txBody>
      </p:sp>
    </p:spTree>
    <p:extLst>
      <p:ext uri="{BB962C8B-B14F-4D97-AF65-F5344CB8AC3E}">
        <p14:creationId xmlns:p14="http://schemas.microsoft.com/office/powerpoint/2010/main" val="2199938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39743694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30062871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20349DE2-61A7-4946-ACA8-415CAE178D2B}" type="slidenum">
              <a:rPr lang="en-CA" smtClean="0"/>
              <a:t>‹#›</a:t>
            </a:fld>
            <a:endParaRPr lang="en-CA" dirty="0"/>
          </a:p>
        </p:txBody>
      </p:sp>
    </p:spTree>
    <p:extLst>
      <p:ext uri="{BB962C8B-B14F-4D97-AF65-F5344CB8AC3E}">
        <p14:creationId xmlns:p14="http://schemas.microsoft.com/office/powerpoint/2010/main" val="10815146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20349DE2-61A7-4946-ACA8-415CAE178D2B}" type="slidenum">
              <a:rPr lang="en-CA" smtClean="0"/>
              <a:t>‹#›</a:t>
            </a:fld>
            <a:endParaRPr lang="en-CA"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239200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20349DE2-61A7-4946-ACA8-415CAE178D2B}" type="slidenum">
              <a:rPr lang="en-CA" smtClean="0"/>
              <a:t>‹#›</a:t>
            </a:fld>
            <a:endParaRPr lang="en-CA"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279620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20349DE2-61A7-4946-ACA8-415CAE178D2B}" type="slidenum">
              <a:rPr lang="en-CA" smtClean="0"/>
              <a:t>‹#›</a:t>
            </a:fld>
            <a:endParaRPr lang="en-CA" dirty="0"/>
          </a:p>
        </p:txBody>
      </p:sp>
    </p:spTree>
    <p:extLst>
      <p:ext uri="{BB962C8B-B14F-4D97-AF65-F5344CB8AC3E}">
        <p14:creationId xmlns:p14="http://schemas.microsoft.com/office/powerpoint/2010/main" val="26567983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dirty="0"/>
              <a:t>Click icon to add picture</a:t>
            </a:r>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20349DE2-61A7-4946-ACA8-415CAE178D2B}" type="slidenum">
              <a:rPr lang="en-CA" smtClean="0"/>
              <a:t>‹#›</a:t>
            </a:fld>
            <a:endParaRPr lang="en-CA" dirty="0"/>
          </a:p>
        </p:txBody>
      </p:sp>
    </p:spTree>
    <p:extLst>
      <p:ext uri="{BB962C8B-B14F-4D97-AF65-F5344CB8AC3E}">
        <p14:creationId xmlns:p14="http://schemas.microsoft.com/office/powerpoint/2010/main" val="3478348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20349DE2-61A7-4946-ACA8-415CAE178D2B}" type="slidenum">
              <a:rPr lang="en-CA" smtClean="0"/>
              <a:t>‹#›</a:t>
            </a:fld>
            <a:endParaRPr lang="en-CA" dirty="0"/>
          </a:p>
        </p:txBody>
      </p:sp>
    </p:spTree>
    <p:extLst>
      <p:ext uri="{BB962C8B-B14F-4D97-AF65-F5344CB8AC3E}">
        <p14:creationId xmlns:p14="http://schemas.microsoft.com/office/powerpoint/2010/main" val="35160109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20349DE2-61A7-4946-ACA8-415CAE178D2B}" type="slidenum">
              <a:rPr lang="en-CA" smtClean="0"/>
              <a:t>‹#›</a:t>
            </a:fld>
            <a:endParaRPr lang="en-CA"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3543864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20349DE2-61A7-4946-ACA8-415CAE178D2B}" type="slidenum">
              <a:rPr lang="en-CA" smtClean="0"/>
              <a:t>‹#›</a:t>
            </a:fld>
            <a:endParaRPr lang="en-CA" dirty="0"/>
          </a:p>
        </p:txBody>
      </p:sp>
    </p:spTree>
    <p:extLst>
      <p:ext uri="{BB962C8B-B14F-4D97-AF65-F5344CB8AC3E}">
        <p14:creationId xmlns:p14="http://schemas.microsoft.com/office/powerpoint/2010/main" val="11709180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40783456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chor="ctr" anchorCtr="0"/>
          <a:lstStyle/>
          <a:p>
            <a:r>
              <a:rPr lang="en-US" dirty="0"/>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20349DE2-61A7-4946-ACA8-415CAE178D2B}" type="slidenum">
              <a:rPr lang="en-CA" smtClean="0"/>
              <a:t>‹#›</a:t>
            </a:fld>
            <a:endParaRPr lang="en-CA" dirty="0"/>
          </a:p>
        </p:txBody>
      </p:sp>
    </p:spTree>
    <p:extLst>
      <p:ext uri="{BB962C8B-B14F-4D97-AF65-F5344CB8AC3E}">
        <p14:creationId xmlns:p14="http://schemas.microsoft.com/office/powerpoint/2010/main" val="24631161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20349DE2-61A7-4946-ACA8-415CAE178D2B}" type="slidenum">
              <a:rPr lang="en-CA" smtClean="0"/>
              <a:t>‹#›</a:t>
            </a:fld>
            <a:endParaRPr lang="en-CA" dirty="0"/>
          </a:p>
        </p:txBody>
      </p:sp>
    </p:spTree>
    <p:extLst>
      <p:ext uri="{BB962C8B-B14F-4D97-AF65-F5344CB8AC3E}">
        <p14:creationId xmlns:p14="http://schemas.microsoft.com/office/powerpoint/2010/main" val="414885281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20349DE2-61A7-4946-ACA8-415CAE178D2B}" type="slidenum">
              <a:rPr lang="en-CA" smtClean="0"/>
              <a:t>‹#›</a:t>
            </a:fld>
            <a:endParaRPr lang="en-CA" dirty="0"/>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191820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20349DE2-61A7-4946-ACA8-415CAE178D2B}" type="slidenum">
              <a:rPr lang="en-CA" smtClean="0"/>
              <a:t>‹#›</a:t>
            </a:fld>
            <a:endParaRPr lang="en-CA" dirty="0"/>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to add picture</a:t>
            </a:r>
          </a:p>
        </p:txBody>
      </p:sp>
    </p:spTree>
    <p:extLst>
      <p:ext uri="{BB962C8B-B14F-4D97-AF65-F5344CB8AC3E}">
        <p14:creationId xmlns:p14="http://schemas.microsoft.com/office/powerpoint/2010/main" val="26717305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20349DE2-61A7-4946-ACA8-415CAE178D2B}" type="slidenum">
              <a:rPr lang="en-CA" smtClean="0"/>
              <a:t>‹#›</a:t>
            </a:fld>
            <a:endParaRPr lang="en-CA" dirty="0"/>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3704332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7FF65-A536-F639-8591-ED024C223308}"/>
              </a:ext>
            </a:extLst>
          </p:cNvPr>
          <p:cNvSpPr>
            <a:spLocks noGrp="1"/>
          </p:cNvSpPr>
          <p:nvPr>
            <p:ph type="title"/>
          </p:nvPr>
        </p:nvSpPr>
        <p:spPr>
          <a:xfrm>
            <a:off x="1690832" y="863599"/>
            <a:ext cx="7981580" cy="2565401"/>
          </a:xfrm>
        </p:spPr>
        <p:txBody>
          <a:bodyPr anchor="b">
            <a:normAutofit/>
          </a:bodyPr>
          <a:lstStyle/>
          <a:p>
            <a:pPr algn="ctr">
              <a:lnSpc>
                <a:spcPct val="150000"/>
              </a:lnSpc>
            </a:pPr>
            <a:r>
              <a:rPr lang="en-US" sz="2800" dirty="0">
                <a:solidFill>
                  <a:schemeClr val="accent5"/>
                </a:solidFill>
                <a:latin typeface="Avenir Next LT Pro" panose="020B0504020202020204" pitchFamily="34" charset="0"/>
              </a:rPr>
              <a:t>ONTARIO RESEARCH FUNDING SUMMARY</a:t>
            </a:r>
          </a:p>
        </p:txBody>
      </p:sp>
      <p:cxnSp>
        <p:nvCxnSpPr>
          <p:cNvPr id="12" name="Straight Connector 11">
            <a:extLst>
              <a:ext uri="{FF2B5EF4-FFF2-40B4-BE49-F238E27FC236}">
                <a16:creationId xmlns:a16="http://schemas.microsoft.com/office/drawing/2014/main" id="{367C1D66-FD7B-B68A-7AE8-5C595284531D}"/>
              </a:ext>
            </a:extLst>
          </p:cNvPr>
          <p:cNvCxnSpPr>
            <a:cxnSpLocks/>
          </p:cNvCxnSpPr>
          <p:nvPr/>
        </p:nvCxnSpPr>
        <p:spPr>
          <a:xfrm>
            <a:off x="3191084" y="3460314"/>
            <a:ext cx="5591830" cy="0"/>
          </a:xfrm>
          <a:prstGeom prst="line">
            <a:avLst/>
          </a:prstGeom>
          <a:ln/>
        </p:spPr>
        <p:style>
          <a:lnRef idx="2">
            <a:schemeClr val="accent6"/>
          </a:lnRef>
          <a:fillRef idx="0">
            <a:schemeClr val="accent6"/>
          </a:fillRef>
          <a:effectRef idx="1">
            <a:schemeClr val="accent6"/>
          </a:effectRef>
          <a:fontRef idx="minor">
            <a:schemeClr val="tx1"/>
          </a:fontRef>
        </p:style>
      </p:cxnSp>
    </p:spTree>
    <p:extLst>
      <p:ext uri="{BB962C8B-B14F-4D97-AF65-F5344CB8AC3E}">
        <p14:creationId xmlns:p14="http://schemas.microsoft.com/office/powerpoint/2010/main" val="2202437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F0411-0419-C678-059B-87ADE323144A}"/>
              </a:ext>
            </a:extLst>
          </p:cNvPr>
          <p:cNvSpPr>
            <a:spLocks noGrp="1"/>
          </p:cNvSpPr>
          <p:nvPr>
            <p:ph type="title"/>
          </p:nvPr>
        </p:nvSpPr>
        <p:spPr>
          <a:xfrm>
            <a:off x="3460565" y="1057274"/>
            <a:ext cx="7965461" cy="994164"/>
          </a:xfrm>
        </p:spPr>
        <p:txBody>
          <a:bodyPr anchor="b">
            <a:normAutofit/>
          </a:bodyPr>
          <a:lstStyle/>
          <a:p>
            <a:r>
              <a:rPr lang="en-US" b="0"/>
              <a:t>AGENDA</a:t>
            </a:r>
          </a:p>
        </p:txBody>
      </p:sp>
      <p:graphicFrame>
        <p:nvGraphicFramePr>
          <p:cNvPr id="5" name="Content Placeholder 2">
            <a:extLst>
              <a:ext uri="{FF2B5EF4-FFF2-40B4-BE49-F238E27FC236}">
                <a16:creationId xmlns:a16="http://schemas.microsoft.com/office/drawing/2014/main" id="{2664BC8F-3817-9CB0-94BE-86BACC43D1A7}"/>
              </a:ext>
            </a:extLst>
          </p:cNvPr>
          <p:cNvGraphicFramePr>
            <a:graphicFrameLocks noGrp="1"/>
          </p:cNvGraphicFramePr>
          <p:nvPr>
            <p:ph sz="half" idx="2"/>
            <p:extLst>
              <p:ext uri="{D42A27DB-BD31-4B8C-83A1-F6EECF244321}">
                <p14:modId xmlns:p14="http://schemas.microsoft.com/office/powerpoint/2010/main" val="3588907074"/>
              </p:ext>
            </p:extLst>
          </p:nvPr>
        </p:nvGraphicFramePr>
        <p:xfrm>
          <a:off x="3460565" y="2303029"/>
          <a:ext cx="7965460" cy="34976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396202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1DAD21-44B9-DBD3-66FD-F0428A30807C}"/>
              </a:ext>
            </a:extLst>
          </p:cNvPr>
          <p:cNvSpPr>
            <a:spLocks noGrp="1"/>
          </p:cNvSpPr>
          <p:nvPr>
            <p:ph type="title"/>
          </p:nvPr>
        </p:nvSpPr>
        <p:spPr>
          <a:xfrm>
            <a:off x="914400" y="1057275"/>
            <a:ext cx="10137058" cy="692867"/>
          </a:xfrm>
        </p:spPr>
        <p:txBody>
          <a:bodyPr/>
          <a:lstStyle/>
          <a:p>
            <a:pPr algn="ctr"/>
            <a:r>
              <a:rPr lang="en-US" sz="2400" b="0" dirty="0"/>
              <a:t>EXECUTIVE SUMMARY</a:t>
            </a:r>
          </a:p>
        </p:txBody>
      </p:sp>
      <p:sp>
        <p:nvSpPr>
          <p:cNvPr id="3" name="Content Placeholder 2">
            <a:extLst>
              <a:ext uri="{FF2B5EF4-FFF2-40B4-BE49-F238E27FC236}">
                <a16:creationId xmlns:a16="http://schemas.microsoft.com/office/drawing/2014/main" id="{9D522D53-88F7-D861-6820-709D6B74EAA9}"/>
              </a:ext>
            </a:extLst>
          </p:cNvPr>
          <p:cNvSpPr>
            <a:spLocks noGrp="1"/>
          </p:cNvSpPr>
          <p:nvPr>
            <p:ph idx="1"/>
          </p:nvPr>
        </p:nvSpPr>
        <p:spPr>
          <a:xfrm>
            <a:off x="914400" y="2123768"/>
            <a:ext cx="10589342" cy="3918215"/>
          </a:xfrm>
        </p:spPr>
        <p:txBody>
          <a:bodyPr>
            <a:normAutofit/>
          </a:bodyPr>
          <a:lstStyle/>
          <a:p>
            <a:pPr algn="just"/>
            <a:r>
              <a:rPr lang="en-US" dirty="0"/>
              <a:t>This dataset reflects a comprehensive record of Ontario-funded research projects over six years. Key metrics include total projects reviewed, distribution of funding by research focus, and project outcomes. Using Tableau, the goal is to visualize these insights effectively, aiding executive decision-making on future funding strategies.</a:t>
            </a:r>
          </a:p>
        </p:txBody>
      </p:sp>
    </p:spTree>
    <p:extLst>
      <p:ext uri="{BB962C8B-B14F-4D97-AF65-F5344CB8AC3E}">
        <p14:creationId xmlns:p14="http://schemas.microsoft.com/office/powerpoint/2010/main" val="23069591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994DEF-5BAA-A872-D812-5FA798E671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E3D121-D50A-1A20-0ACE-02CAB7B950F3}"/>
              </a:ext>
            </a:extLst>
          </p:cNvPr>
          <p:cNvSpPr>
            <a:spLocks noGrp="1"/>
          </p:cNvSpPr>
          <p:nvPr>
            <p:ph type="title"/>
          </p:nvPr>
        </p:nvSpPr>
        <p:spPr>
          <a:xfrm>
            <a:off x="914400" y="1057275"/>
            <a:ext cx="10137058" cy="692867"/>
          </a:xfrm>
        </p:spPr>
        <p:txBody>
          <a:bodyPr/>
          <a:lstStyle/>
          <a:p>
            <a:pPr algn="ctr"/>
            <a:r>
              <a:rPr lang="en-US" sz="2400" b="0" dirty="0"/>
              <a:t>PROBLEM ANALYSIS</a:t>
            </a:r>
          </a:p>
        </p:txBody>
      </p:sp>
      <p:sp>
        <p:nvSpPr>
          <p:cNvPr id="3" name="Content Placeholder 2">
            <a:extLst>
              <a:ext uri="{FF2B5EF4-FFF2-40B4-BE49-F238E27FC236}">
                <a16:creationId xmlns:a16="http://schemas.microsoft.com/office/drawing/2014/main" id="{9FCCA809-FD17-2B23-C098-D607003A2DAB}"/>
              </a:ext>
            </a:extLst>
          </p:cNvPr>
          <p:cNvSpPr>
            <a:spLocks noGrp="1"/>
          </p:cNvSpPr>
          <p:nvPr>
            <p:ph idx="1"/>
          </p:nvPr>
        </p:nvSpPr>
        <p:spPr>
          <a:xfrm>
            <a:off x="914400" y="2123768"/>
            <a:ext cx="10589342" cy="3918215"/>
          </a:xfrm>
        </p:spPr>
        <p:txBody>
          <a:bodyPr>
            <a:normAutofit fontScale="92500"/>
          </a:bodyPr>
          <a:lstStyle/>
          <a:p>
            <a:r>
              <a:rPr lang="en-US" dirty="0">
                <a:effectLst/>
              </a:rPr>
              <a:t>How does the distribution of funding across various research fields from July 2018 to November 2024 in Ontario impact the advancement of these fields, and what trends can be identified in terms of funding allocation, project outcomes, and financial commitment? </a:t>
            </a:r>
          </a:p>
          <a:p>
            <a:endParaRPr lang="en-US" dirty="0"/>
          </a:p>
          <a:p>
            <a:r>
              <a:rPr lang="en-US" dirty="0">
                <a:effectLst/>
              </a:rPr>
              <a:t>The analysis will focus on funding amount, research field, project duration, geographic location, project type, financial trends over time, research output, and others, to evaluate patterns, gaps, and opportunities for optimizing future funding strategies. </a:t>
            </a:r>
          </a:p>
          <a:p>
            <a:endParaRPr lang="en-US" dirty="0">
              <a:effectLst/>
            </a:endParaRPr>
          </a:p>
          <a:p>
            <a:r>
              <a:rPr lang="en-US" dirty="0">
                <a:effectLst/>
              </a:rPr>
              <a:t>This will help stakeholders make informed decisions to enhance the effectiveness of Ontario’s financial support for research projects.</a:t>
            </a:r>
            <a:endParaRPr lang="en-US" dirty="0"/>
          </a:p>
        </p:txBody>
      </p:sp>
    </p:spTree>
    <p:extLst>
      <p:ext uri="{BB962C8B-B14F-4D97-AF65-F5344CB8AC3E}">
        <p14:creationId xmlns:p14="http://schemas.microsoft.com/office/powerpoint/2010/main" val="29470700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B1B2E-3401-0E48-5D1E-5BD2F2C1CB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38D47C-B037-F470-5D15-8A671B1CCE23}"/>
              </a:ext>
            </a:extLst>
          </p:cNvPr>
          <p:cNvSpPr>
            <a:spLocks noGrp="1"/>
          </p:cNvSpPr>
          <p:nvPr>
            <p:ph type="title"/>
          </p:nvPr>
        </p:nvSpPr>
        <p:spPr>
          <a:xfrm>
            <a:off x="934720" y="528955"/>
            <a:ext cx="10137058" cy="456565"/>
          </a:xfrm>
        </p:spPr>
        <p:txBody>
          <a:bodyPr/>
          <a:lstStyle/>
          <a:p>
            <a:pPr algn="ctr"/>
            <a:r>
              <a:rPr lang="en-US" sz="2400" b="0" dirty="0"/>
              <a:t>DASHBOARD - 1</a:t>
            </a:r>
          </a:p>
        </p:txBody>
      </p:sp>
      <p:sp>
        <p:nvSpPr>
          <p:cNvPr id="10" name="Content Placeholder 9">
            <a:extLst>
              <a:ext uri="{FF2B5EF4-FFF2-40B4-BE49-F238E27FC236}">
                <a16:creationId xmlns:a16="http://schemas.microsoft.com/office/drawing/2014/main" id="{3717C692-47DC-215A-5075-5DAB07740D34}"/>
              </a:ext>
            </a:extLst>
          </p:cNvPr>
          <p:cNvSpPr>
            <a:spLocks noGrp="1"/>
          </p:cNvSpPr>
          <p:nvPr>
            <p:ph idx="1"/>
          </p:nvPr>
        </p:nvSpPr>
        <p:spPr/>
        <p:txBody>
          <a:bodyPr/>
          <a:lstStyle/>
          <a:p>
            <a:endParaRPr lang="en-US"/>
          </a:p>
        </p:txBody>
      </p:sp>
      <p:pic>
        <p:nvPicPr>
          <p:cNvPr id="12" name="Picture 11">
            <a:extLst>
              <a:ext uri="{FF2B5EF4-FFF2-40B4-BE49-F238E27FC236}">
                <a16:creationId xmlns:a16="http://schemas.microsoft.com/office/drawing/2014/main" id="{DDB946D8-DC0C-8B80-B912-7029D97A3306}"/>
              </a:ext>
            </a:extLst>
          </p:cNvPr>
          <p:cNvPicPr>
            <a:picLocks noChangeAspect="1"/>
          </p:cNvPicPr>
          <p:nvPr/>
        </p:nvPicPr>
        <p:blipFill>
          <a:blip r:embed="rId2"/>
          <a:stretch>
            <a:fillRect/>
          </a:stretch>
        </p:blipFill>
        <p:spPr>
          <a:xfrm>
            <a:off x="1026198" y="1150766"/>
            <a:ext cx="10295512" cy="5646909"/>
          </a:xfrm>
          <a:prstGeom prst="rect">
            <a:avLst/>
          </a:prstGeom>
        </p:spPr>
      </p:pic>
    </p:spTree>
    <p:extLst>
      <p:ext uri="{BB962C8B-B14F-4D97-AF65-F5344CB8AC3E}">
        <p14:creationId xmlns:p14="http://schemas.microsoft.com/office/powerpoint/2010/main" val="3211069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CEB0A-392D-0A27-A582-24F8602894D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FF27C07-E6BA-23B6-B034-1A6F7C734777}"/>
              </a:ext>
            </a:extLst>
          </p:cNvPr>
          <p:cNvPicPr>
            <a:picLocks noChangeAspect="1"/>
          </p:cNvPicPr>
          <p:nvPr/>
        </p:nvPicPr>
        <p:blipFill>
          <a:blip r:embed="rId2"/>
          <a:stretch>
            <a:fillRect/>
          </a:stretch>
        </p:blipFill>
        <p:spPr>
          <a:xfrm>
            <a:off x="763269" y="1542886"/>
            <a:ext cx="5826949" cy="4810749"/>
          </a:xfrm>
          <a:prstGeom prst="rect">
            <a:avLst/>
          </a:prstGeom>
        </p:spPr>
      </p:pic>
      <p:sp>
        <p:nvSpPr>
          <p:cNvPr id="2" name="Title 1">
            <a:extLst>
              <a:ext uri="{FF2B5EF4-FFF2-40B4-BE49-F238E27FC236}">
                <a16:creationId xmlns:a16="http://schemas.microsoft.com/office/drawing/2014/main" id="{47FED70E-EF52-3865-FC21-3F3799404B90}"/>
              </a:ext>
            </a:extLst>
          </p:cNvPr>
          <p:cNvSpPr>
            <a:spLocks noGrp="1"/>
          </p:cNvSpPr>
          <p:nvPr>
            <p:ph type="title"/>
          </p:nvPr>
        </p:nvSpPr>
        <p:spPr>
          <a:xfrm>
            <a:off x="914400" y="401955"/>
            <a:ext cx="10137058" cy="692867"/>
          </a:xfrm>
        </p:spPr>
        <p:txBody>
          <a:bodyPr/>
          <a:lstStyle/>
          <a:p>
            <a:pPr algn="ctr"/>
            <a:r>
              <a:rPr lang="en-US" sz="2400" dirty="0">
                <a:effectLst/>
              </a:rPr>
              <a:t>Trends in Funding Allocation</a:t>
            </a:r>
            <a:endParaRPr lang="en-US" sz="2400" b="0" dirty="0"/>
          </a:p>
        </p:txBody>
      </p:sp>
      <p:sp>
        <p:nvSpPr>
          <p:cNvPr id="3" name="Content Placeholder 2">
            <a:extLst>
              <a:ext uri="{FF2B5EF4-FFF2-40B4-BE49-F238E27FC236}">
                <a16:creationId xmlns:a16="http://schemas.microsoft.com/office/drawing/2014/main" id="{48156F7D-556A-8BAB-277B-D59E7F25E16F}"/>
              </a:ext>
            </a:extLst>
          </p:cNvPr>
          <p:cNvSpPr>
            <a:spLocks noGrp="1"/>
          </p:cNvSpPr>
          <p:nvPr>
            <p:ph idx="1"/>
          </p:nvPr>
        </p:nvSpPr>
        <p:spPr>
          <a:xfrm>
            <a:off x="914400" y="1158240"/>
            <a:ext cx="10589342" cy="4883743"/>
          </a:xfrm>
        </p:spPr>
        <p:txBody>
          <a:bodyPr>
            <a:normAutofit/>
          </a:bodyPr>
          <a:lstStyle/>
          <a:p>
            <a:endParaRPr lang="en-US" dirty="0"/>
          </a:p>
          <a:p>
            <a:endParaRPr lang="en-US" dirty="0"/>
          </a:p>
          <a:p>
            <a:endParaRPr lang="en-US" dirty="0"/>
          </a:p>
          <a:p>
            <a:endParaRPr lang="en-US" dirty="0"/>
          </a:p>
          <a:p>
            <a:endParaRPr lang="en-US" dirty="0"/>
          </a:p>
          <a:p>
            <a:pPr marL="342900" indent="-342900">
              <a:buFont typeface="Arial" panose="020B0604020202020204" pitchFamily="34" charset="0"/>
              <a:buChar char="•"/>
            </a:pPr>
            <a:endParaRPr lang="en-US" dirty="0"/>
          </a:p>
          <a:p>
            <a:endParaRPr lang="en-US" dirty="0"/>
          </a:p>
          <a:p>
            <a:endParaRPr lang="en-US" dirty="0"/>
          </a:p>
          <a:p>
            <a:endParaRPr lang="en-US" dirty="0"/>
          </a:p>
        </p:txBody>
      </p:sp>
      <p:sp>
        <p:nvSpPr>
          <p:cNvPr id="14" name="Content Placeholder 2">
            <a:extLst>
              <a:ext uri="{FF2B5EF4-FFF2-40B4-BE49-F238E27FC236}">
                <a16:creationId xmlns:a16="http://schemas.microsoft.com/office/drawing/2014/main" id="{98A23A31-6E83-AEFA-60E8-3425FC132FE6}"/>
              </a:ext>
            </a:extLst>
          </p:cNvPr>
          <p:cNvSpPr>
            <a:spLocks noGrp="1"/>
          </p:cNvSpPr>
          <p:nvPr/>
        </p:nvSpPr>
        <p:spPr>
          <a:xfrm>
            <a:off x="665988" y="1469893"/>
            <a:ext cx="5675818" cy="4986152"/>
          </a:xfrm>
          <a:prstGeom prst="rect">
            <a:avLst/>
          </a:prstGeom>
        </p:spPr>
        <p:txBody>
          <a:bodyPr vert="horz" lIns="91440" tIns="0" rIns="91440" bIns="0" rtlCol="0">
            <a:normAutofit/>
          </a:bodyPr>
          <a:lstStyle>
            <a:lvl1pPr marL="0" indent="0" algn="l" defTabSz="914400" rtl="0" eaLnBrk="1" latinLnBrk="0" hangingPunct="1">
              <a:lnSpc>
                <a:spcPct val="10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00000"/>
              </a:lnSpc>
              <a:spcBef>
                <a:spcPts val="0"/>
              </a:spcBef>
              <a:buFont typeface="Arial" panose="020B0604020202020204" pitchFamily="34" charset="0"/>
              <a:buChar char="•"/>
              <a:defRPr sz="2400" kern="1200">
                <a:solidFill>
                  <a:schemeClr val="accent6"/>
                </a:solidFill>
                <a:latin typeface="+mn-lt"/>
                <a:ea typeface="+mn-ea"/>
                <a:cs typeface="+mn-cs"/>
              </a:defRPr>
            </a:lvl2pPr>
            <a:lvl3pPr marL="685800" indent="-347472" algn="l" defTabSz="914400" rtl="0" eaLnBrk="1" latinLnBrk="0" hangingPunct="1">
              <a:lnSpc>
                <a:spcPct val="100000"/>
              </a:lnSpc>
              <a:spcBef>
                <a:spcPts val="0"/>
              </a:spcBef>
              <a:buFont typeface="Arial" panose="020B0604020202020204" pitchFamily="34" charset="0"/>
              <a:buChar char="•"/>
              <a:defRPr sz="24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effectLst/>
            </a:endParaRPr>
          </a:p>
        </p:txBody>
      </p:sp>
      <p:sp>
        <p:nvSpPr>
          <p:cNvPr id="15" name="Content Placeholder 2">
            <a:extLst>
              <a:ext uri="{FF2B5EF4-FFF2-40B4-BE49-F238E27FC236}">
                <a16:creationId xmlns:a16="http://schemas.microsoft.com/office/drawing/2014/main" id="{12789539-594C-DB80-4CCB-BC88CADDB62B}"/>
              </a:ext>
            </a:extLst>
          </p:cNvPr>
          <p:cNvSpPr txBox="1">
            <a:spLocks/>
          </p:cNvSpPr>
          <p:nvPr/>
        </p:nvSpPr>
        <p:spPr>
          <a:xfrm>
            <a:off x="6459794" y="1469893"/>
            <a:ext cx="5066218" cy="4883742"/>
          </a:xfrm>
          <a:prstGeom prst="rect">
            <a:avLst/>
          </a:prstGeom>
        </p:spPr>
        <p:txBody>
          <a:bodyPr vert="horz" lIns="91440" tIns="0" rIns="91440" bIns="0" rtlCol="0">
            <a:normAutofit fontScale="85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342900" indent="-342900" algn="just">
              <a:buFont typeface="Arial" panose="020B0604020202020204" pitchFamily="34" charset="0"/>
              <a:buChar char="•"/>
            </a:pPr>
            <a:r>
              <a:rPr lang="en-US" sz="2400" dirty="0">
                <a:solidFill>
                  <a:schemeClr val="accent6"/>
                </a:solidFill>
              </a:rPr>
              <a:t>The fiscal years 2021–2022 and 2023–2024 saw the largest funding allocations, totaling over $200 million, indicating times of increased project investments or strategic initiatives.</a:t>
            </a:r>
          </a:p>
          <a:p>
            <a:pPr algn="just"/>
            <a:endParaRPr lang="en-US" sz="2400" dirty="0">
              <a:solidFill>
                <a:schemeClr val="accent6"/>
              </a:solidFill>
            </a:endParaRPr>
          </a:p>
          <a:p>
            <a:pPr marL="342900" indent="-342900" algn="just">
              <a:buFont typeface="Arial" panose="020B0604020202020204" pitchFamily="34" charset="0"/>
              <a:buChar char="•"/>
            </a:pPr>
            <a:r>
              <a:rPr lang="en-US" sz="2400" dirty="0">
                <a:solidFill>
                  <a:schemeClr val="accent6"/>
                </a:solidFill>
              </a:rPr>
              <a:t>Significant Rise After 2020–21: There is a noticeable sharp increase in funding after 2020–21, most likely because of refocused policy efforts or pandemic-related research priorities.</a:t>
            </a:r>
          </a:p>
          <a:p>
            <a:pPr algn="just"/>
            <a:endParaRPr lang="en-US" sz="2400" dirty="0">
              <a:solidFill>
                <a:schemeClr val="accent6"/>
              </a:solidFill>
            </a:endParaRPr>
          </a:p>
          <a:p>
            <a:pPr marL="342900" indent="-342900" algn="just">
              <a:buFont typeface="Arial" panose="020B0604020202020204" pitchFamily="34" charset="0"/>
              <a:buChar char="•"/>
            </a:pPr>
            <a:r>
              <a:rPr lang="en-US" sz="2400" dirty="0">
                <a:solidFill>
                  <a:schemeClr val="accent6"/>
                </a:solidFill>
              </a:rPr>
              <a:t>Declining Trend in 2024–25: There is a notable drop in funding in 2024–25, which could be a sign of either a change in strategic focus or the completion of large projects.</a:t>
            </a:r>
          </a:p>
          <a:p>
            <a:br>
              <a:rPr lang="en-US" sz="1600" dirty="0">
                <a:effectLst/>
              </a:rPr>
            </a:br>
            <a:endParaRPr lang="en-US" sz="1600" dirty="0">
              <a:effectLst/>
            </a:endParaRPr>
          </a:p>
          <a:p>
            <a:br>
              <a:rPr lang="en-US" sz="1600" dirty="0">
                <a:effectLst/>
              </a:rPr>
            </a:br>
            <a:endParaRPr lang="en-US" sz="1600" dirty="0">
              <a:solidFill>
                <a:schemeClr val="accent6"/>
              </a:solidFill>
            </a:endParaRPr>
          </a:p>
        </p:txBody>
      </p:sp>
    </p:spTree>
    <p:extLst>
      <p:ext uri="{BB962C8B-B14F-4D97-AF65-F5344CB8AC3E}">
        <p14:creationId xmlns:p14="http://schemas.microsoft.com/office/powerpoint/2010/main" val="9999741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B8FB5C-F73A-BA33-572E-60B7E7762D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DB12C3-EFFE-4FE4-2992-D59EC8717A43}"/>
              </a:ext>
            </a:extLst>
          </p:cNvPr>
          <p:cNvSpPr>
            <a:spLocks noGrp="1"/>
          </p:cNvSpPr>
          <p:nvPr>
            <p:ph type="title"/>
          </p:nvPr>
        </p:nvSpPr>
        <p:spPr>
          <a:xfrm>
            <a:off x="914400" y="401955"/>
            <a:ext cx="10137058" cy="692867"/>
          </a:xfrm>
        </p:spPr>
        <p:txBody>
          <a:bodyPr/>
          <a:lstStyle/>
          <a:p>
            <a:pPr algn="ctr"/>
            <a:r>
              <a:rPr lang="en-US" sz="2400" dirty="0">
                <a:solidFill>
                  <a:schemeClr val="accent6"/>
                </a:solidFill>
              </a:rPr>
              <a:t>Project Distribution By Research</a:t>
            </a:r>
            <a:endParaRPr lang="en-US" sz="2400" b="0" dirty="0"/>
          </a:p>
        </p:txBody>
      </p:sp>
      <p:sp>
        <p:nvSpPr>
          <p:cNvPr id="3" name="Content Placeholder 2">
            <a:extLst>
              <a:ext uri="{FF2B5EF4-FFF2-40B4-BE49-F238E27FC236}">
                <a16:creationId xmlns:a16="http://schemas.microsoft.com/office/drawing/2014/main" id="{FD7937FA-3471-0DA2-70B7-00BDC132B422}"/>
              </a:ext>
            </a:extLst>
          </p:cNvPr>
          <p:cNvSpPr>
            <a:spLocks noGrp="1"/>
          </p:cNvSpPr>
          <p:nvPr>
            <p:ph idx="1"/>
          </p:nvPr>
        </p:nvSpPr>
        <p:spPr>
          <a:xfrm>
            <a:off x="914400" y="1158240"/>
            <a:ext cx="10589342" cy="4883743"/>
          </a:xfrm>
        </p:spPr>
        <p:txBody>
          <a:bodyPr>
            <a:normAutofit/>
          </a:bodyPr>
          <a:lstStyle/>
          <a:p>
            <a:endParaRPr lang="en-US" dirty="0"/>
          </a:p>
          <a:p>
            <a:endParaRPr lang="en-US" dirty="0"/>
          </a:p>
          <a:p>
            <a:endParaRPr lang="en-US" dirty="0"/>
          </a:p>
          <a:p>
            <a:endParaRPr lang="en-US" dirty="0"/>
          </a:p>
          <a:p>
            <a:endParaRPr lang="en-US" dirty="0"/>
          </a:p>
          <a:p>
            <a:pPr marL="342900" indent="-342900">
              <a:buFont typeface="Arial" panose="020B0604020202020204" pitchFamily="34" charset="0"/>
              <a:buChar char="•"/>
            </a:pPr>
            <a:endParaRPr lang="en-US" dirty="0"/>
          </a:p>
          <a:p>
            <a:endParaRPr lang="en-US" dirty="0"/>
          </a:p>
          <a:p>
            <a:endParaRPr lang="en-US" dirty="0"/>
          </a:p>
          <a:p>
            <a:endParaRPr lang="en-US" dirty="0"/>
          </a:p>
        </p:txBody>
      </p:sp>
      <p:sp>
        <p:nvSpPr>
          <p:cNvPr id="14" name="Content Placeholder 2">
            <a:extLst>
              <a:ext uri="{FF2B5EF4-FFF2-40B4-BE49-F238E27FC236}">
                <a16:creationId xmlns:a16="http://schemas.microsoft.com/office/drawing/2014/main" id="{5BDACB8B-1EA4-9D52-4279-332F777F8F95}"/>
              </a:ext>
            </a:extLst>
          </p:cNvPr>
          <p:cNvSpPr>
            <a:spLocks noGrp="1"/>
          </p:cNvSpPr>
          <p:nvPr/>
        </p:nvSpPr>
        <p:spPr>
          <a:xfrm>
            <a:off x="665988" y="1469893"/>
            <a:ext cx="5675818" cy="4986152"/>
          </a:xfrm>
          <a:prstGeom prst="rect">
            <a:avLst/>
          </a:prstGeom>
        </p:spPr>
        <p:txBody>
          <a:bodyPr vert="horz" lIns="91440" tIns="0" rIns="91440" bIns="0" rtlCol="0">
            <a:normAutofit/>
          </a:bodyPr>
          <a:lstStyle>
            <a:lvl1pPr marL="0" indent="0" algn="l" defTabSz="914400" rtl="0" eaLnBrk="1" latinLnBrk="0" hangingPunct="1">
              <a:lnSpc>
                <a:spcPct val="10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00000"/>
              </a:lnSpc>
              <a:spcBef>
                <a:spcPts val="0"/>
              </a:spcBef>
              <a:buFont typeface="Arial" panose="020B0604020202020204" pitchFamily="34" charset="0"/>
              <a:buChar char="•"/>
              <a:defRPr sz="2400" kern="1200">
                <a:solidFill>
                  <a:schemeClr val="accent6"/>
                </a:solidFill>
                <a:latin typeface="+mn-lt"/>
                <a:ea typeface="+mn-ea"/>
                <a:cs typeface="+mn-cs"/>
              </a:defRPr>
            </a:lvl2pPr>
            <a:lvl3pPr marL="685800" indent="-347472" algn="l" defTabSz="914400" rtl="0" eaLnBrk="1" latinLnBrk="0" hangingPunct="1">
              <a:lnSpc>
                <a:spcPct val="100000"/>
              </a:lnSpc>
              <a:spcBef>
                <a:spcPts val="0"/>
              </a:spcBef>
              <a:buFont typeface="Arial" panose="020B0604020202020204" pitchFamily="34" charset="0"/>
              <a:buChar char="•"/>
              <a:defRPr sz="24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effectLst/>
            </a:endParaRPr>
          </a:p>
        </p:txBody>
      </p:sp>
      <p:sp>
        <p:nvSpPr>
          <p:cNvPr id="15" name="Content Placeholder 2">
            <a:extLst>
              <a:ext uri="{FF2B5EF4-FFF2-40B4-BE49-F238E27FC236}">
                <a16:creationId xmlns:a16="http://schemas.microsoft.com/office/drawing/2014/main" id="{42D65556-F80D-A9E3-F3A0-A71564869A89}"/>
              </a:ext>
            </a:extLst>
          </p:cNvPr>
          <p:cNvSpPr txBox="1">
            <a:spLocks/>
          </p:cNvSpPr>
          <p:nvPr/>
        </p:nvSpPr>
        <p:spPr>
          <a:xfrm>
            <a:off x="6695768" y="1469893"/>
            <a:ext cx="5056386" cy="4883742"/>
          </a:xfrm>
          <a:prstGeom prst="rect">
            <a:avLst/>
          </a:prstGeom>
        </p:spPr>
        <p:txBody>
          <a:bodyPr vert="horz" lIns="91440" tIns="0" rIns="91440" bIns="0" rtlCol="0">
            <a:norm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342900" indent="-342900" algn="just">
              <a:lnSpc>
                <a:spcPct val="80000"/>
              </a:lnSpc>
              <a:buFont typeface="Arial" panose="020B0604020202020204" pitchFamily="34" charset="0"/>
              <a:buChar char="•"/>
            </a:pPr>
            <a:r>
              <a:rPr lang="en-US" sz="2000" dirty="0">
                <a:solidFill>
                  <a:schemeClr val="accent6"/>
                </a:solidFill>
              </a:rPr>
              <a:t>Lead in Medical and Health Sciences: With the largest funding (~119M), this field demonstrated its importance in Ontario's research agenda, which is probably influenced by healthcare priorities.</a:t>
            </a:r>
          </a:p>
          <a:p>
            <a:pPr algn="just">
              <a:lnSpc>
                <a:spcPct val="80000"/>
              </a:lnSpc>
            </a:pPr>
            <a:endParaRPr lang="en-US" sz="2000" dirty="0">
              <a:solidFill>
                <a:schemeClr val="accent6"/>
              </a:solidFill>
            </a:endParaRPr>
          </a:p>
          <a:p>
            <a:pPr marL="342900" indent="-342900" algn="just">
              <a:lnSpc>
                <a:spcPct val="80000"/>
              </a:lnSpc>
              <a:buFont typeface="Arial" panose="020B0604020202020204" pitchFamily="34" charset="0"/>
              <a:buChar char="•"/>
            </a:pPr>
            <a:r>
              <a:rPr lang="en-US" sz="2000" dirty="0">
                <a:solidFill>
                  <a:schemeClr val="accent6"/>
                </a:solidFill>
              </a:rPr>
              <a:t>Natural Sciences and Engineering Follow Closely: The importance of fields like engineering (99M) and natural sciences (104M) in promoting innovation and technology is highlighted.</a:t>
            </a:r>
          </a:p>
          <a:p>
            <a:pPr algn="just">
              <a:lnSpc>
                <a:spcPct val="80000"/>
              </a:lnSpc>
            </a:pPr>
            <a:endParaRPr lang="en-US" sz="2000" dirty="0">
              <a:solidFill>
                <a:schemeClr val="accent6"/>
              </a:solidFill>
            </a:endParaRPr>
          </a:p>
          <a:p>
            <a:pPr marL="342900" indent="-342900" algn="just">
              <a:lnSpc>
                <a:spcPct val="80000"/>
              </a:lnSpc>
              <a:buFont typeface="Arial" panose="020B0604020202020204" pitchFamily="34" charset="0"/>
              <a:buChar char="•"/>
            </a:pPr>
            <a:r>
              <a:rPr lang="en-US" sz="2000" dirty="0">
                <a:solidFill>
                  <a:schemeClr val="accent6"/>
                </a:solidFill>
              </a:rPr>
              <a:t>Neglected Areas: The low funding for disciplines like civil engineering (13.7M) and other research (17.8M) raises the possibility of underfunding critical infrastructure research.</a:t>
            </a:r>
          </a:p>
        </p:txBody>
      </p:sp>
      <p:pic>
        <p:nvPicPr>
          <p:cNvPr id="6" name="Picture 5">
            <a:extLst>
              <a:ext uri="{FF2B5EF4-FFF2-40B4-BE49-F238E27FC236}">
                <a16:creationId xmlns:a16="http://schemas.microsoft.com/office/drawing/2014/main" id="{AE60714E-A458-48B1-6D30-7D913AB5E21D}"/>
              </a:ext>
            </a:extLst>
          </p:cNvPr>
          <p:cNvPicPr>
            <a:picLocks noChangeAspect="1"/>
          </p:cNvPicPr>
          <p:nvPr/>
        </p:nvPicPr>
        <p:blipFill>
          <a:blip r:embed="rId2"/>
          <a:stretch>
            <a:fillRect/>
          </a:stretch>
        </p:blipFill>
        <p:spPr>
          <a:xfrm>
            <a:off x="550606" y="1608259"/>
            <a:ext cx="6017342" cy="4745376"/>
          </a:xfrm>
          <a:prstGeom prst="rect">
            <a:avLst/>
          </a:prstGeom>
        </p:spPr>
      </p:pic>
    </p:spTree>
    <p:extLst>
      <p:ext uri="{BB962C8B-B14F-4D97-AF65-F5344CB8AC3E}">
        <p14:creationId xmlns:p14="http://schemas.microsoft.com/office/powerpoint/2010/main" val="10517442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B7167-9BCF-7BA0-91F7-0142CF1E05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B34A82-0D37-4062-0D57-B8FF99853057}"/>
              </a:ext>
            </a:extLst>
          </p:cNvPr>
          <p:cNvSpPr>
            <a:spLocks noGrp="1"/>
          </p:cNvSpPr>
          <p:nvPr>
            <p:ph type="title"/>
          </p:nvPr>
        </p:nvSpPr>
        <p:spPr>
          <a:xfrm>
            <a:off x="737419" y="744180"/>
            <a:ext cx="10766323" cy="426228"/>
          </a:xfrm>
        </p:spPr>
        <p:txBody>
          <a:bodyPr/>
          <a:lstStyle/>
          <a:p>
            <a:pPr algn="ctr"/>
            <a:r>
              <a:rPr lang="en-US" sz="2400" dirty="0">
                <a:effectLst/>
              </a:rPr>
              <a:t>Ontario's financial commitment to actual project costs</a:t>
            </a:r>
            <a:endParaRPr lang="en-US" sz="2400" b="0" dirty="0"/>
          </a:p>
        </p:txBody>
      </p:sp>
      <p:sp>
        <p:nvSpPr>
          <p:cNvPr id="3" name="Content Placeholder 2">
            <a:extLst>
              <a:ext uri="{FF2B5EF4-FFF2-40B4-BE49-F238E27FC236}">
                <a16:creationId xmlns:a16="http://schemas.microsoft.com/office/drawing/2014/main" id="{27AD7E27-BF9C-A318-D776-4E51CAB70AC3}"/>
              </a:ext>
            </a:extLst>
          </p:cNvPr>
          <p:cNvSpPr>
            <a:spLocks noGrp="1"/>
          </p:cNvSpPr>
          <p:nvPr>
            <p:ph idx="1"/>
          </p:nvPr>
        </p:nvSpPr>
        <p:spPr>
          <a:xfrm>
            <a:off x="914400" y="1158240"/>
            <a:ext cx="10589342" cy="4883743"/>
          </a:xfrm>
        </p:spPr>
        <p:txBody>
          <a:bodyPr>
            <a:normAutofit/>
          </a:bodyPr>
          <a:lstStyle/>
          <a:p>
            <a:endParaRPr lang="en-US" dirty="0"/>
          </a:p>
          <a:p>
            <a:endParaRPr lang="en-US" dirty="0"/>
          </a:p>
          <a:p>
            <a:endParaRPr lang="en-US" dirty="0"/>
          </a:p>
          <a:p>
            <a:endParaRPr lang="en-US" dirty="0"/>
          </a:p>
          <a:p>
            <a:endParaRPr lang="en-US" dirty="0"/>
          </a:p>
          <a:p>
            <a:pPr marL="342900" indent="-342900">
              <a:buFont typeface="Arial" panose="020B0604020202020204" pitchFamily="34" charset="0"/>
              <a:buChar char="•"/>
            </a:pPr>
            <a:endParaRPr lang="en-US" dirty="0"/>
          </a:p>
          <a:p>
            <a:endParaRPr lang="en-US" dirty="0"/>
          </a:p>
          <a:p>
            <a:endParaRPr lang="en-US" dirty="0"/>
          </a:p>
          <a:p>
            <a:endParaRPr lang="en-US" dirty="0"/>
          </a:p>
        </p:txBody>
      </p:sp>
      <p:sp>
        <p:nvSpPr>
          <p:cNvPr id="14" name="Content Placeholder 2">
            <a:extLst>
              <a:ext uri="{FF2B5EF4-FFF2-40B4-BE49-F238E27FC236}">
                <a16:creationId xmlns:a16="http://schemas.microsoft.com/office/drawing/2014/main" id="{BB2F9BA8-19DC-FCC2-E98D-B579003AE0BF}"/>
              </a:ext>
            </a:extLst>
          </p:cNvPr>
          <p:cNvSpPr>
            <a:spLocks noGrp="1"/>
          </p:cNvSpPr>
          <p:nvPr/>
        </p:nvSpPr>
        <p:spPr>
          <a:xfrm>
            <a:off x="665988" y="1469893"/>
            <a:ext cx="5675818" cy="4986152"/>
          </a:xfrm>
          <a:prstGeom prst="rect">
            <a:avLst/>
          </a:prstGeom>
        </p:spPr>
        <p:txBody>
          <a:bodyPr vert="horz" lIns="91440" tIns="0" rIns="91440" bIns="0" rtlCol="0">
            <a:normAutofit/>
          </a:bodyPr>
          <a:lstStyle>
            <a:lvl1pPr marL="0" indent="0" algn="l" defTabSz="914400" rtl="0" eaLnBrk="1" latinLnBrk="0" hangingPunct="1">
              <a:lnSpc>
                <a:spcPct val="10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00000"/>
              </a:lnSpc>
              <a:spcBef>
                <a:spcPts val="0"/>
              </a:spcBef>
              <a:buFont typeface="Arial" panose="020B0604020202020204" pitchFamily="34" charset="0"/>
              <a:buChar char="•"/>
              <a:defRPr sz="2400" kern="1200">
                <a:solidFill>
                  <a:schemeClr val="accent6"/>
                </a:solidFill>
                <a:latin typeface="+mn-lt"/>
                <a:ea typeface="+mn-ea"/>
                <a:cs typeface="+mn-cs"/>
              </a:defRPr>
            </a:lvl2pPr>
            <a:lvl3pPr marL="685800" indent="-347472" algn="l" defTabSz="914400" rtl="0" eaLnBrk="1" latinLnBrk="0" hangingPunct="1">
              <a:lnSpc>
                <a:spcPct val="100000"/>
              </a:lnSpc>
              <a:spcBef>
                <a:spcPts val="0"/>
              </a:spcBef>
              <a:buFont typeface="Arial" panose="020B0604020202020204" pitchFamily="34" charset="0"/>
              <a:buChar char="•"/>
              <a:defRPr sz="24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effectLst/>
            </a:endParaRPr>
          </a:p>
        </p:txBody>
      </p:sp>
      <p:sp>
        <p:nvSpPr>
          <p:cNvPr id="15" name="Content Placeholder 2">
            <a:extLst>
              <a:ext uri="{FF2B5EF4-FFF2-40B4-BE49-F238E27FC236}">
                <a16:creationId xmlns:a16="http://schemas.microsoft.com/office/drawing/2014/main" id="{FC421DB3-6CC4-41F2-660D-FE8F890CAE93}"/>
              </a:ext>
            </a:extLst>
          </p:cNvPr>
          <p:cNvSpPr txBox="1">
            <a:spLocks/>
          </p:cNvSpPr>
          <p:nvPr/>
        </p:nvSpPr>
        <p:spPr>
          <a:xfrm>
            <a:off x="6695768" y="1469893"/>
            <a:ext cx="5056386" cy="4883742"/>
          </a:xfrm>
          <a:prstGeom prst="rect">
            <a:avLst/>
          </a:prstGeom>
        </p:spPr>
        <p:txBody>
          <a:bodyPr vert="horz" lIns="91440" tIns="0" rIns="91440" bIns="0" rtlCol="0">
            <a:norm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342900" indent="-342900" algn="just">
              <a:lnSpc>
                <a:spcPct val="90000"/>
              </a:lnSpc>
              <a:buFont typeface="Arial" panose="020B0604020202020204" pitchFamily="34" charset="0"/>
              <a:buChar char="•"/>
            </a:pPr>
            <a:r>
              <a:rPr lang="en-US" sz="2200" dirty="0">
                <a:solidFill>
                  <a:schemeClr val="accent6"/>
                </a:solidFill>
              </a:rPr>
              <a:t>The graph shows a significant gap </a:t>
            </a:r>
            <a:br>
              <a:rPr lang="en-US" sz="2200" dirty="0">
                <a:solidFill>
                  <a:schemeClr val="accent6"/>
                </a:solidFill>
              </a:rPr>
            </a:br>
            <a:r>
              <a:rPr lang="en-US" sz="2200" dirty="0">
                <a:solidFill>
                  <a:schemeClr val="accent6"/>
                </a:solidFill>
              </a:rPr>
              <a:t>between Ontario's commitments </a:t>
            </a:r>
            <a:br>
              <a:rPr lang="en-US" sz="2200" dirty="0">
                <a:solidFill>
                  <a:schemeClr val="accent6"/>
                </a:solidFill>
              </a:rPr>
            </a:br>
            <a:r>
              <a:rPr lang="en-US" sz="2200" dirty="0">
                <a:solidFill>
                  <a:schemeClr val="accent6"/>
                </a:solidFill>
              </a:rPr>
              <a:t>(orange) and actual project costs (red)</a:t>
            </a:r>
            <a:br>
              <a:rPr lang="en-US" sz="2200" dirty="0">
                <a:solidFill>
                  <a:schemeClr val="accent6"/>
                </a:solidFill>
              </a:rPr>
            </a:br>
            <a:r>
              <a:rPr lang="en-US" sz="2200" dirty="0">
                <a:solidFill>
                  <a:schemeClr val="accent6"/>
                </a:solidFill>
              </a:rPr>
              <a:t>across fiscal years, with costs </a:t>
            </a:r>
            <a:br>
              <a:rPr lang="en-US" sz="2200" dirty="0">
                <a:solidFill>
                  <a:schemeClr val="accent6"/>
                </a:solidFill>
              </a:rPr>
            </a:br>
            <a:r>
              <a:rPr lang="en-US" sz="2200" dirty="0">
                <a:solidFill>
                  <a:schemeClr val="accent6"/>
                </a:solidFill>
              </a:rPr>
              <a:t>consistently exceeding commitments.</a:t>
            </a:r>
          </a:p>
          <a:p>
            <a:pPr algn="just">
              <a:lnSpc>
                <a:spcPct val="90000"/>
              </a:lnSpc>
            </a:pPr>
            <a:endParaRPr lang="en-US" sz="2200" dirty="0">
              <a:solidFill>
                <a:schemeClr val="accent6"/>
              </a:solidFill>
            </a:endParaRPr>
          </a:p>
          <a:p>
            <a:pPr marL="342900" indent="-342900" algn="just">
              <a:lnSpc>
                <a:spcPct val="90000"/>
              </a:lnSpc>
              <a:buFont typeface="Arial" panose="020B0604020202020204" pitchFamily="34" charset="0"/>
              <a:buChar char="•"/>
            </a:pPr>
            <a:r>
              <a:rPr lang="en-US" sz="2200" dirty="0">
                <a:solidFill>
                  <a:schemeClr val="accent6"/>
                </a:solidFill>
              </a:rPr>
              <a:t>The gap widens significantly in 2021-22 and peaks in 2023-24, indicating underfunding and rising project expenditures. Improved budget </a:t>
            </a:r>
            <a:br>
              <a:rPr lang="en-US" sz="2200" dirty="0">
                <a:solidFill>
                  <a:schemeClr val="accent6"/>
                </a:solidFill>
              </a:rPr>
            </a:br>
            <a:r>
              <a:rPr lang="en-US" sz="2200" dirty="0">
                <a:solidFill>
                  <a:schemeClr val="accent6"/>
                </a:solidFill>
              </a:rPr>
              <a:t>alignment and cost management are recommended.</a:t>
            </a:r>
          </a:p>
          <a:p>
            <a:br>
              <a:rPr lang="en-US" sz="2400" dirty="0">
                <a:effectLst/>
              </a:rPr>
            </a:br>
            <a:endParaRPr lang="en-US" sz="2200" dirty="0">
              <a:solidFill>
                <a:schemeClr val="accent6"/>
              </a:solidFill>
            </a:endParaRPr>
          </a:p>
        </p:txBody>
      </p:sp>
      <p:pic>
        <p:nvPicPr>
          <p:cNvPr id="5" name="Picture 4">
            <a:extLst>
              <a:ext uri="{FF2B5EF4-FFF2-40B4-BE49-F238E27FC236}">
                <a16:creationId xmlns:a16="http://schemas.microsoft.com/office/drawing/2014/main" id="{7B019324-FBFD-BCC0-EB00-7F12EA8ABE86}"/>
              </a:ext>
            </a:extLst>
          </p:cNvPr>
          <p:cNvPicPr>
            <a:picLocks noChangeAspect="1"/>
          </p:cNvPicPr>
          <p:nvPr/>
        </p:nvPicPr>
        <p:blipFill>
          <a:blip r:embed="rId2"/>
          <a:stretch>
            <a:fillRect/>
          </a:stretch>
        </p:blipFill>
        <p:spPr>
          <a:xfrm>
            <a:off x="547572" y="1469892"/>
            <a:ext cx="6079370" cy="4986151"/>
          </a:xfrm>
          <a:prstGeom prst="rect">
            <a:avLst/>
          </a:prstGeom>
        </p:spPr>
      </p:pic>
    </p:spTree>
    <p:extLst>
      <p:ext uri="{BB962C8B-B14F-4D97-AF65-F5344CB8AC3E}">
        <p14:creationId xmlns:p14="http://schemas.microsoft.com/office/powerpoint/2010/main" val="39352659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A074D7-073E-64BF-050D-F497F9B18C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1A419C-F0F0-DC8C-B29B-76646C4BDDAE}"/>
              </a:ext>
            </a:extLst>
          </p:cNvPr>
          <p:cNvSpPr>
            <a:spLocks noGrp="1"/>
          </p:cNvSpPr>
          <p:nvPr>
            <p:ph type="title"/>
          </p:nvPr>
        </p:nvSpPr>
        <p:spPr>
          <a:xfrm>
            <a:off x="737419" y="504211"/>
            <a:ext cx="10766323" cy="426228"/>
          </a:xfrm>
        </p:spPr>
        <p:txBody>
          <a:bodyPr/>
          <a:lstStyle/>
          <a:p>
            <a:pPr algn="ctr"/>
            <a:r>
              <a:rPr lang="en-US" sz="2400" dirty="0">
                <a:effectLst/>
              </a:rPr>
              <a:t>Institutes and Ontario Commitment</a:t>
            </a:r>
            <a:endParaRPr lang="en-US" sz="2400" b="0" dirty="0"/>
          </a:p>
        </p:txBody>
      </p:sp>
      <p:sp>
        <p:nvSpPr>
          <p:cNvPr id="3" name="Content Placeholder 2">
            <a:extLst>
              <a:ext uri="{FF2B5EF4-FFF2-40B4-BE49-F238E27FC236}">
                <a16:creationId xmlns:a16="http://schemas.microsoft.com/office/drawing/2014/main" id="{F2DCCD7B-B2AA-9CC4-A4E8-FD1C62DA23CA}"/>
              </a:ext>
            </a:extLst>
          </p:cNvPr>
          <p:cNvSpPr>
            <a:spLocks noGrp="1"/>
          </p:cNvSpPr>
          <p:nvPr>
            <p:ph idx="1"/>
          </p:nvPr>
        </p:nvSpPr>
        <p:spPr>
          <a:xfrm>
            <a:off x="914400" y="1158240"/>
            <a:ext cx="10589342" cy="4883743"/>
          </a:xfrm>
        </p:spPr>
        <p:txBody>
          <a:bodyPr>
            <a:normAutofit/>
          </a:bodyPr>
          <a:lstStyle/>
          <a:p>
            <a:endParaRPr lang="en-US" dirty="0"/>
          </a:p>
          <a:p>
            <a:endParaRPr lang="en-US" dirty="0"/>
          </a:p>
          <a:p>
            <a:endParaRPr lang="en-US" dirty="0"/>
          </a:p>
          <a:p>
            <a:endParaRPr lang="en-US" dirty="0"/>
          </a:p>
          <a:p>
            <a:endParaRPr lang="en-US" dirty="0"/>
          </a:p>
          <a:p>
            <a:pPr marL="342900" indent="-342900">
              <a:buFont typeface="Arial" panose="020B0604020202020204" pitchFamily="34" charset="0"/>
              <a:buChar char="•"/>
            </a:pPr>
            <a:endParaRPr lang="en-US" dirty="0"/>
          </a:p>
          <a:p>
            <a:endParaRPr lang="en-US" dirty="0"/>
          </a:p>
          <a:p>
            <a:endParaRPr lang="en-US" dirty="0"/>
          </a:p>
          <a:p>
            <a:endParaRPr lang="en-US" dirty="0"/>
          </a:p>
        </p:txBody>
      </p:sp>
      <p:sp>
        <p:nvSpPr>
          <p:cNvPr id="14" name="Content Placeholder 2">
            <a:extLst>
              <a:ext uri="{FF2B5EF4-FFF2-40B4-BE49-F238E27FC236}">
                <a16:creationId xmlns:a16="http://schemas.microsoft.com/office/drawing/2014/main" id="{E2B9C635-C0D5-41BA-0499-9FA12DED59CC}"/>
              </a:ext>
            </a:extLst>
          </p:cNvPr>
          <p:cNvSpPr>
            <a:spLocks noGrp="1"/>
          </p:cNvSpPr>
          <p:nvPr/>
        </p:nvSpPr>
        <p:spPr>
          <a:xfrm>
            <a:off x="665988" y="1469893"/>
            <a:ext cx="5675818" cy="4986152"/>
          </a:xfrm>
          <a:prstGeom prst="rect">
            <a:avLst/>
          </a:prstGeom>
        </p:spPr>
        <p:txBody>
          <a:bodyPr vert="horz" lIns="91440" tIns="0" rIns="91440" bIns="0" rtlCol="0">
            <a:normAutofit/>
          </a:bodyPr>
          <a:lstStyle>
            <a:lvl1pPr marL="0" indent="0" algn="l" defTabSz="914400" rtl="0" eaLnBrk="1" latinLnBrk="0" hangingPunct="1">
              <a:lnSpc>
                <a:spcPct val="10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00000"/>
              </a:lnSpc>
              <a:spcBef>
                <a:spcPts val="0"/>
              </a:spcBef>
              <a:buFont typeface="Arial" panose="020B0604020202020204" pitchFamily="34" charset="0"/>
              <a:buChar char="•"/>
              <a:defRPr sz="2400" kern="1200">
                <a:solidFill>
                  <a:schemeClr val="accent6"/>
                </a:solidFill>
                <a:latin typeface="+mn-lt"/>
                <a:ea typeface="+mn-ea"/>
                <a:cs typeface="+mn-cs"/>
              </a:defRPr>
            </a:lvl2pPr>
            <a:lvl3pPr marL="685800" indent="-347472" algn="l" defTabSz="914400" rtl="0" eaLnBrk="1" latinLnBrk="0" hangingPunct="1">
              <a:lnSpc>
                <a:spcPct val="100000"/>
              </a:lnSpc>
              <a:spcBef>
                <a:spcPts val="0"/>
              </a:spcBef>
              <a:buFont typeface="Arial" panose="020B0604020202020204" pitchFamily="34" charset="0"/>
              <a:buChar char="•"/>
              <a:defRPr sz="24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effectLst/>
            </a:endParaRPr>
          </a:p>
        </p:txBody>
      </p:sp>
      <p:sp>
        <p:nvSpPr>
          <p:cNvPr id="15" name="Content Placeholder 2">
            <a:extLst>
              <a:ext uri="{FF2B5EF4-FFF2-40B4-BE49-F238E27FC236}">
                <a16:creationId xmlns:a16="http://schemas.microsoft.com/office/drawing/2014/main" id="{D2E73877-4935-82FA-AE90-3FC73C03DD4B}"/>
              </a:ext>
            </a:extLst>
          </p:cNvPr>
          <p:cNvSpPr txBox="1">
            <a:spLocks/>
          </p:cNvSpPr>
          <p:nvPr/>
        </p:nvSpPr>
        <p:spPr>
          <a:xfrm>
            <a:off x="6695768" y="1469893"/>
            <a:ext cx="5056386" cy="4883742"/>
          </a:xfrm>
          <a:prstGeom prst="rect">
            <a:avLst/>
          </a:prstGeom>
        </p:spPr>
        <p:txBody>
          <a:bodyPr vert="horz" lIns="91440" tIns="0" rIns="91440" bIns="0" rtlCol="0">
            <a:norm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342900" indent="-342900" algn="just">
              <a:lnSpc>
                <a:spcPct val="90000"/>
              </a:lnSpc>
              <a:buFont typeface="Arial" panose="020B0604020202020204" pitchFamily="34" charset="0"/>
              <a:buChar char="•"/>
            </a:pPr>
            <a:r>
              <a:rPr lang="en-US" sz="2200" dirty="0">
                <a:solidFill>
                  <a:schemeClr val="accent6"/>
                </a:solidFill>
              </a:rPr>
              <a:t>The Line graph illustrates that Ontario's commitment (green) experienced a significant spike in 2021, followed by a decrease and a recovery in 2024. </a:t>
            </a:r>
          </a:p>
          <a:p>
            <a:pPr algn="just">
              <a:lnSpc>
                <a:spcPct val="90000"/>
              </a:lnSpc>
            </a:pPr>
            <a:endParaRPr lang="en-US" sz="2200" dirty="0">
              <a:solidFill>
                <a:schemeClr val="accent6"/>
              </a:solidFill>
            </a:endParaRPr>
          </a:p>
          <a:p>
            <a:pPr marL="342900" indent="-342900" algn="just">
              <a:lnSpc>
                <a:spcPct val="90000"/>
              </a:lnSpc>
              <a:buFont typeface="Arial" panose="020B0604020202020204" pitchFamily="34" charset="0"/>
              <a:buChar char="•"/>
            </a:pPr>
            <a:r>
              <a:rPr lang="en-US" sz="2200" dirty="0">
                <a:solidFill>
                  <a:schemeClr val="accent6"/>
                </a:solidFill>
              </a:rPr>
              <a:t>The Institute's commitment (red) showed a gradual and steady increase starting in 2022, while the other commitments (blue) remained flat with minimal change throughout.</a:t>
            </a:r>
          </a:p>
        </p:txBody>
      </p:sp>
      <p:pic>
        <p:nvPicPr>
          <p:cNvPr id="6" name="Picture 5">
            <a:extLst>
              <a:ext uri="{FF2B5EF4-FFF2-40B4-BE49-F238E27FC236}">
                <a16:creationId xmlns:a16="http://schemas.microsoft.com/office/drawing/2014/main" id="{107CB75D-D63D-500F-73A8-EA50ECC8DBEF}"/>
              </a:ext>
            </a:extLst>
          </p:cNvPr>
          <p:cNvPicPr>
            <a:picLocks noChangeAspect="1"/>
          </p:cNvPicPr>
          <p:nvPr/>
        </p:nvPicPr>
        <p:blipFill>
          <a:blip r:embed="rId2"/>
          <a:stretch>
            <a:fillRect/>
          </a:stretch>
        </p:blipFill>
        <p:spPr>
          <a:xfrm>
            <a:off x="564039" y="1499267"/>
            <a:ext cx="6200555" cy="4542716"/>
          </a:xfrm>
          <a:prstGeom prst="rect">
            <a:avLst/>
          </a:prstGeom>
        </p:spPr>
      </p:pic>
    </p:spTree>
    <p:extLst>
      <p:ext uri="{BB962C8B-B14F-4D97-AF65-F5344CB8AC3E}">
        <p14:creationId xmlns:p14="http://schemas.microsoft.com/office/powerpoint/2010/main" val="25066431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AC3B3-44EF-E98E-4407-56FB75291A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30FDB8-6B73-9E82-66DA-793FC0DAAE31}"/>
              </a:ext>
            </a:extLst>
          </p:cNvPr>
          <p:cNvSpPr>
            <a:spLocks noGrp="1"/>
          </p:cNvSpPr>
          <p:nvPr>
            <p:ph type="title"/>
          </p:nvPr>
        </p:nvSpPr>
        <p:spPr>
          <a:xfrm>
            <a:off x="737419" y="504211"/>
            <a:ext cx="10766323" cy="426228"/>
          </a:xfrm>
        </p:spPr>
        <p:txBody>
          <a:bodyPr/>
          <a:lstStyle/>
          <a:p>
            <a:pPr algn="ctr"/>
            <a:r>
              <a:rPr lang="en-US" sz="2400" dirty="0">
                <a:effectLst/>
              </a:rPr>
              <a:t>Top 5 Funding by City</a:t>
            </a:r>
            <a:endParaRPr lang="en-US" sz="2400" b="0" dirty="0"/>
          </a:p>
        </p:txBody>
      </p:sp>
      <p:sp>
        <p:nvSpPr>
          <p:cNvPr id="3" name="Content Placeholder 2">
            <a:extLst>
              <a:ext uri="{FF2B5EF4-FFF2-40B4-BE49-F238E27FC236}">
                <a16:creationId xmlns:a16="http://schemas.microsoft.com/office/drawing/2014/main" id="{A309A950-DC5D-06D4-C670-D3EE21692157}"/>
              </a:ext>
            </a:extLst>
          </p:cNvPr>
          <p:cNvSpPr>
            <a:spLocks noGrp="1"/>
          </p:cNvSpPr>
          <p:nvPr>
            <p:ph idx="1"/>
          </p:nvPr>
        </p:nvSpPr>
        <p:spPr>
          <a:xfrm>
            <a:off x="914400" y="1158240"/>
            <a:ext cx="10589342" cy="4883743"/>
          </a:xfrm>
        </p:spPr>
        <p:txBody>
          <a:bodyPr>
            <a:normAutofit/>
          </a:bodyPr>
          <a:lstStyle/>
          <a:p>
            <a:endParaRPr lang="en-US" dirty="0"/>
          </a:p>
          <a:p>
            <a:endParaRPr lang="en-US" dirty="0"/>
          </a:p>
          <a:p>
            <a:endParaRPr lang="en-US" dirty="0"/>
          </a:p>
          <a:p>
            <a:endParaRPr lang="en-US" dirty="0"/>
          </a:p>
          <a:p>
            <a:endParaRPr lang="en-US" dirty="0"/>
          </a:p>
          <a:p>
            <a:pPr marL="342900" indent="-342900">
              <a:buFont typeface="Arial" panose="020B0604020202020204" pitchFamily="34" charset="0"/>
              <a:buChar char="•"/>
            </a:pPr>
            <a:endParaRPr lang="en-US" dirty="0"/>
          </a:p>
          <a:p>
            <a:endParaRPr lang="en-US" dirty="0"/>
          </a:p>
          <a:p>
            <a:endParaRPr lang="en-US" dirty="0"/>
          </a:p>
          <a:p>
            <a:endParaRPr lang="en-US" dirty="0"/>
          </a:p>
        </p:txBody>
      </p:sp>
      <p:sp>
        <p:nvSpPr>
          <p:cNvPr id="14" name="Content Placeholder 2">
            <a:extLst>
              <a:ext uri="{FF2B5EF4-FFF2-40B4-BE49-F238E27FC236}">
                <a16:creationId xmlns:a16="http://schemas.microsoft.com/office/drawing/2014/main" id="{EEDC2FFC-BD9C-3910-23F5-47A2A1611F78}"/>
              </a:ext>
            </a:extLst>
          </p:cNvPr>
          <p:cNvSpPr>
            <a:spLocks noGrp="1"/>
          </p:cNvSpPr>
          <p:nvPr/>
        </p:nvSpPr>
        <p:spPr>
          <a:xfrm>
            <a:off x="665988" y="1469893"/>
            <a:ext cx="5675818" cy="4986152"/>
          </a:xfrm>
          <a:prstGeom prst="rect">
            <a:avLst/>
          </a:prstGeom>
        </p:spPr>
        <p:txBody>
          <a:bodyPr vert="horz" lIns="91440" tIns="0" rIns="91440" bIns="0" rtlCol="0">
            <a:normAutofit/>
          </a:bodyPr>
          <a:lstStyle>
            <a:lvl1pPr marL="0" indent="0" algn="l" defTabSz="914400" rtl="0" eaLnBrk="1" latinLnBrk="0" hangingPunct="1">
              <a:lnSpc>
                <a:spcPct val="10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00000"/>
              </a:lnSpc>
              <a:spcBef>
                <a:spcPts val="0"/>
              </a:spcBef>
              <a:buFont typeface="Arial" panose="020B0604020202020204" pitchFamily="34" charset="0"/>
              <a:buChar char="•"/>
              <a:defRPr sz="2400" kern="1200">
                <a:solidFill>
                  <a:schemeClr val="accent6"/>
                </a:solidFill>
                <a:latin typeface="+mn-lt"/>
                <a:ea typeface="+mn-ea"/>
                <a:cs typeface="+mn-cs"/>
              </a:defRPr>
            </a:lvl2pPr>
            <a:lvl3pPr marL="685800" indent="-347472" algn="l" defTabSz="914400" rtl="0" eaLnBrk="1" latinLnBrk="0" hangingPunct="1">
              <a:lnSpc>
                <a:spcPct val="100000"/>
              </a:lnSpc>
              <a:spcBef>
                <a:spcPts val="0"/>
              </a:spcBef>
              <a:buFont typeface="Arial" panose="020B0604020202020204" pitchFamily="34" charset="0"/>
              <a:buChar char="•"/>
              <a:defRPr sz="24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effectLst/>
            </a:endParaRPr>
          </a:p>
        </p:txBody>
      </p:sp>
      <p:sp>
        <p:nvSpPr>
          <p:cNvPr id="15" name="Content Placeholder 2">
            <a:extLst>
              <a:ext uri="{FF2B5EF4-FFF2-40B4-BE49-F238E27FC236}">
                <a16:creationId xmlns:a16="http://schemas.microsoft.com/office/drawing/2014/main" id="{369A79DB-8897-4020-F115-67E665C2DCE2}"/>
              </a:ext>
            </a:extLst>
          </p:cNvPr>
          <p:cNvSpPr txBox="1">
            <a:spLocks/>
          </p:cNvSpPr>
          <p:nvPr/>
        </p:nvSpPr>
        <p:spPr>
          <a:xfrm>
            <a:off x="6695768" y="1469893"/>
            <a:ext cx="5056386" cy="4883742"/>
          </a:xfrm>
          <a:prstGeom prst="rect">
            <a:avLst/>
          </a:prstGeom>
        </p:spPr>
        <p:txBody>
          <a:bodyPr vert="horz" lIns="91440" tIns="0" rIns="91440" bIns="0" rtlCol="0">
            <a:norm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342900" indent="-342900" algn="just">
              <a:lnSpc>
                <a:spcPct val="90000"/>
              </a:lnSpc>
              <a:buFont typeface="Arial" panose="020B0604020202020204" pitchFamily="34" charset="0"/>
              <a:buChar char="•"/>
            </a:pPr>
            <a:r>
              <a:rPr lang="en-US" sz="2200" dirty="0">
                <a:solidFill>
                  <a:schemeClr val="accent6"/>
                </a:solidFill>
              </a:rPr>
              <a:t>The map shows the funding amounts for different cities. Ottawa (shown in red) has the most funding, with 91,579,948. </a:t>
            </a:r>
          </a:p>
          <a:p>
            <a:pPr marL="342900" indent="-342900" algn="just">
              <a:lnSpc>
                <a:spcPct val="90000"/>
              </a:lnSpc>
              <a:buFont typeface="Arial" panose="020B0604020202020204" pitchFamily="34" charset="0"/>
              <a:buChar char="•"/>
            </a:pPr>
            <a:r>
              <a:rPr lang="en-US" sz="2200" dirty="0">
                <a:solidFill>
                  <a:schemeClr val="accent6"/>
                </a:solidFill>
              </a:rPr>
              <a:t>Hamilton (shown in orange) comes second with 69,529,990. The size of the markers on the map shows the amount of funding, and Ottawa stands out with the highest funding compared to other cities.</a:t>
            </a:r>
          </a:p>
        </p:txBody>
      </p:sp>
      <p:pic>
        <p:nvPicPr>
          <p:cNvPr id="5" name="Picture 4">
            <a:extLst>
              <a:ext uri="{FF2B5EF4-FFF2-40B4-BE49-F238E27FC236}">
                <a16:creationId xmlns:a16="http://schemas.microsoft.com/office/drawing/2014/main" id="{E4875E4A-C06B-74E2-B52E-35543279F7F5}"/>
              </a:ext>
            </a:extLst>
          </p:cNvPr>
          <p:cNvPicPr>
            <a:picLocks noChangeAspect="1"/>
          </p:cNvPicPr>
          <p:nvPr/>
        </p:nvPicPr>
        <p:blipFill>
          <a:blip r:embed="rId2"/>
          <a:stretch>
            <a:fillRect/>
          </a:stretch>
        </p:blipFill>
        <p:spPr>
          <a:xfrm>
            <a:off x="439847" y="1308460"/>
            <a:ext cx="6255922" cy="4733523"/>
          </a:xfrm>
          <a:prstGeom prst="rect">
            <a:avLst/>
          </a:prstGeom>
        </p:spPr>
      </p:pic>
    </p:spTree>
    <p:extLst>
      <p:ext uri="{BB962C8B-B14F-4D97-AF65-F5344CB8AC3E}">
        <p14:creationId xmlns:p14="http://schemas.microsoft.com/office/powerpoint/2010/main" val="25194929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3ABE9-29E7-042F-AD97-8D459159D5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BDE07E-D479-8781-4FC5-A5F51612BDF4}"/>
              </a:ext>
            </a:extLst>
          </p:cNvPr>
          <p:cNvSpPr>
            <a:spLocks noGrp="1"/>
          </p:cNvSpPr>
          <p:nvPr>
            <p:ph type="title"/>
          </p:nvPr>
        </p:nvSpPr>
        <p:spPr>
          <a:xfrm>
            <a:off x="934720" y="528955"/>
            <a:ext cx="10137058" cy="456565"/>
          </a:xfrm>
        </p:spPr>
        <p:txBody>
          <a:bodyPr/>
          <a:lstStyle/>
          <a:p>
            <a:pPr algn="ctr"/>
            <a:r>
              <a:rPr lang="en-US" sz="2400" b="0" dirty="0"/>
              <a:t>DASHBOARD - 2</a:t>
            </a:r>
          </a:p>
        </p:txBody>
      </p:sp>
      <p:pic>
        <p:nvPicPr>
          <p:cNvPr id="8" name="Content Placeholder 7">
            <a:extLst>
              <a:ext uri="{FF2B5EF4-FFF2-40B4-BE49-F238E27FC236}">
                <a16:creationId xmlns:a16="http://schemas.microsoft.com/office/drawing/2014/main" id="{915855B2-D5FE-5250-21A0-5EB2241BFA42}"/>
              </a:ext>
            </a:extLst>
          </p:cNvPr>
          <p:cNvPicPr>
            <a:picLocks noGrp="1" noChangeAspect="1"/>
          </p:cNvPicPr>
          <p:nvPr>
            <p:ph idx="1"/>
          </p:nvPr>
        </p:nvPicPr>
        <p:blipFill>
          <a:blip r:embed="rId2"/>
          <a:stretch>
            <a:fillRect/>
          </a:stretch>
        </p:blipFill>
        <p:spPr>
          <a:xfrm>
            <a:off x="1524000" y="1137920"/>
            <a:ext cx="9753600" cy="5405120"/>
          </a:xfrm>
        </p:spPr>
      </p:pic>
    </p:spTree>
    <p:extLst>
      <p:ext uri="{BB962C8B-B14F-4D97-AF65-F5344CB8AC3E}">
        <p14:creationId xmlns:p14="http://schemas.microsoft.com/office/powerpoint/2010/main" val="33876734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879D8D-F51D-EF50-A5F1-EF36ADEC769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757F61-B094-7151-026E-E0C44BC2C463}"/>
              </a:ext>
            </a:extLst>
          </p:cNvPr>
          <p:cNvSpPr>
            <a:spLocks noGrp="1"/>
          </p:cNvSpPr>
          <p:nvPr>
            <p:ph idx="1"/>
          </p:nvPr>
        </p:nvSpPr>
        <p:spPr>
          <a:xfrm>
            <a:off x="914400" y="2045110"/>
            <a:ext cx="10393680" cy="4296696"/>
          </a:xfrm>
        </p:spPr>
        <p:txBody>
          <a:bodyPr>
            <a:normAutofit/>
          </a:bodyPr>
          <a:lstStyle/>
          <a:p>
            <a:pPr marL="342900" marR="0" lvl="0" indent="-342900">
              <a:lnSpc>
                <a:spcPct val="115000"/>
              </a:lnSpc>
              <a:spcAft>
                <a:spcPts val="800"/>
              </a:spcAft>
              <a:buSzPts val="1000"/>
              <a:buFont typeface="Symbol" panose="05050102010706020507" pitchFamily="18" charset="2"/>
              <a:buChar char=""/>
              <a:tabLst>
                <a:tab pos="457200" algn="l"/>
              </a:tabLst>
            </a:pPr>
            <a:r>
              <a:rPr lang="en-US" sz="1600" b="1" dirty="0"/>
              <a:t>Increase Support for High-Impact Cities: </a:t>
            </a:r>
            <a:r>
              <a:rPr lang="en-US" sz="1600" dirty="0"/>
              <a:t>Maintain or increase funding in top research cities like Ottawa and Guelph to strengthen their leadership in innovation and economic growth.</a:t>
            </a:r>
          </a:p>
          <a:p>
            <a:pPr marL="342900" marR="0" lvl="0" indent="-342900">
              <a:lnSpc>
                <a:spcPct val="115000"/>
              </a:lnSpc>
              <a:spcAft>
                <a:spcPts val="800"/>
              </a:spcAft>
              <a:buSzPts val="1000"/>
              <a:buFont typeface="Symbol" panose="05050102010706020507" pitchFamily="18" charset="2"/>
              <a:buChar char=""/>
              <a:tabLst>
                <a:tab pos="457200" algn="l"/>
              </a:tabLst>
            </a:pPr>
            <a:r>
              <a:rPr lang="en-US" sz="1600" b="1" dirty="0"/>
              <a:t>Targeted Investment in Health and Medical Research: </a:t>
            </a:r>
            <a:r>
              <a:rPr lang="en-US" sz="1600" dirty="0"/>
              <a:t>Prioritize continued funding in medical and health research to drive healthcare advancements and strengthen Ontario's position in global medical innovation.</a:t>
            </a:r>
          </a:p>
          <a:p>
            <a:pPr marL="342900" marR="0" lvl="0" indent="-342900">
              <a:lnSpc>
                <a:spcPct val="115000"/>
              </a:lnSpc>
              <a:spcAft>
                <a:spcPts val="800"/>
              </a:spcAft>
              <a:buSzPts val="1000"/>
              <a:buFont typeface="Symbol" panose="05050102010706020507" pitchFamily="18" charset="2"/>
              <a:buChar char=""/>
              <a:tabLst>
                <a:tab pos="457200" algn="l"/>
              </a:tabLst>
            </a:pPr>
            <a:r>
              <a:rPr lang="en-US" sz="1600" b="1" dirty="0"/>
              <a:t>Support Emerging and Underfunded Research Areas: </a:t>
            </a:r>
            <a:r>
              <a:rPr lang="en-US" sz="1600" dirty="0"/>
              <a:t>Increase funding in underserved sectors like Biomedical, Manufacturing, and Civil Engineering to diversify Ontario’s research portfolio and drive innovation across industries.</a:t>
            </a:r>
          </a:p>
          <a:p>
            <a:pPr marL="342900" marR="0" lvl="0" indent="-342900">
              <a:lnSpc>
                <a:spcPct val="115000"/>
              </a:lnSpc>
              <a:spcAft>
                <a:spcPts val="800"/>
              </a:spcAft>
              <a:buSzPts val="1000"/>
              <a:buFont typeface="Symbol" panose="05050102010706020507" pitchFamily="18" charset="2"/>
              <a:buChar char=""/>
              <a:tabLst>
                <a:tab pos="457200" algn="l"/>
              </a:tabLst>
            </a:pPr>
            <a:r>
              <a:rPr lang="en-US" sz="1600" b="1" dirty="0"/>
              <a:t>Monitor and Adjust Funding Allocation Based on Performance: </a:t>
            </a:r>
            <a:r>
              <a:rPr lang="en-US" sz="1600" dirty="0"/>
              <a:t>Regularly assess funded projects and adjust funding to ensure resources are directed towards successful, high-impact research aligned with Ontario's priorities.</a:t>
            </a:r>
          </a:p>
          <a:p>
            <a:pPr marL="342900" marR="0" lvl="0" indent="-342900">
              <a:lnSpc>
                <a:spcPct val="115000"/>
              </a:lnSpc>
              <a:spcAft>
                <a:spcPts val="800"/>
              </a:spcAft>
              <a:buSzPts val="1000"/>
              <a:buFont typeface="Symbol" panose="05050102010706020507" pitchFamily="18" charset="2"/>
              <a:buChar char=""/>
              <a:tabLst>
                <a:tab pos="457200" algn="l"/>
              </a:tabLst>
            </a:pPr>
            <a:r>
              <a:rPr lang="en-US" sz="1600" b="1" dirty="0"/>
              <a:t>Public and Private Sector Collaboration: </a:t>
            </a:r>
            <a:r>
              <a:rPr lang="en-US" sz="1600" dirty="0"/>
              <a:t>Encourage partnerships between public research institutions and the private sector to commercialize research and drive economic growth through innovation hubs and joint ventures.</a:t>
            </a:r>
          </a:p>
        </p:txBody>
      </p:sp>
      <p:sp>
        <p:nvSpPr>
          <p:cNvPr id="2" name="Title 1">
            <a:extLst>
              <a:ext uri="{FF2B5EF4-FFF2-40B4-BE49-F238E27FC236}">
                <a16:creationId xmlns:a16="http://schemas.microsoft.com/office/drawing/2014/main" id="{3828BCF0-7C42-573D-75BF-B257840F790A}"/>
              </a:ext>
            </a:extLst>
          </p:cNvPr>
          <p:cNvSpPr>
            <a:spLocks noGrp="1"/>
          </p:cNvSpPr>
          <p:nvPr>
            <p:ph type="title"/>
          </p:nvPr>
        </p:nvSpPr>
        <p:spPr>
          <a:xfrm>
            <a:off x="914400" y="1057275"/>
            <a:ext cx="10137058" cy="692867"/>
          </a:xfrm>
        </p:spPr>
        <p:txBody>
          <a:bodyPr/>
          <a:lstStyle/>
          <a:p>
            <a:pPr algn="ctr"/>
            <a:r>
              <a:rPr lang="en-US" sz="2400" b="0" dirty="0"/>
              <a:t>recommendation</a:t>
            </a:r>
          </a:p>
        </p:txBody>
      </p:sp>
    </p:spTree>
    <p:extLst>
      <p:ext uri="{BB962C8B-B14F-4D97-AF65-F5344CB8AC3E}">
        <p14:creationId xmlns:p14="http://schemas.microsoft.com/office/powerpoint/2010/main" val="1008909716"/>
      </p:ext>
    </p:extLst>
  </p:cSld>
  <p:clrMapOvr>
    <a:masterClrMapping/>
  </p:clrMapOvr>
</p:sld>
</file>

<file path=ppt/theme/theme1.xml><?xml version="1.0" encoding="utf-8"?>
<a:theme xmlns:a="http://schemas.openxmlformats.org/drawingml/2006/main" name="Theme1">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1" id="{4562E377-58F4-4C1F-988D-CFC49F250016}" vid="{D5D8DEA5-C919-43D3-ADB6-2D00304B5FA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24c9e7bc-b52f-4330-a26e-913dd5d5fdf4"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CE21C29C6AA8E4483B37A925A9218F0" ma:contentTypeVersion="12" ma:contentTypeDescription="Create a new document." ma:contentTypeScope="" ma:versionID="a07dd24a87b2cf1aefc8275825022cac">
  <xsd:schema xmlns:xsd="http://www.w3.org/2001/XMLSchema" xmlns:xs="http://www.w3.org/2001/XMLSchema" xmlns:p="http://schemas.microsoft.com/office/2006/metadata/properties" xmlns:ns3="24c9e7bc-b52f-4330-a26e-913dd5d5fdf4" xmlns:ns4="2f346c77-56cd-4926-9db9-b264d9f18f6a" targetNamespace="http://schemas.microsoft.com/office/2006/metadata/properties" ma:root="true" ma:fieldsID="50cd966af1de4788471e3eac60b76c6f" ns3:_="" ns4:_="">
    <xsd:import namespace="24c9e7bc-b52f-4330-a26e-913dd5d5fdf4"/>
    <xsd:import namespace="2f346c77-56cd-4926-9db9-b264d9f18f6a"/>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SearchProperties" minOccurs="0"/>
                <xsd:element ref="ns3:MediaServiceGenerationTime" minOccurs="0"/>
                <xsd:element ref="ns3:MediaServiceEventHashCode" minOccurs="0"/>
                <xsd:element ref="ns3:MediaServiceSystemTags" minOccurs="0"/>
                <xsd:element ref="ns3:MediaLengthInSeconds" minOccurs="0"/>
                <xsd:element ref="ns3:_activity" minOccurs="0"/>
                <xsd:element ref="ns4:SharedWithUsers" minOccurs="0"/>
                <xsd:element ref="ns4:SharedWithDetails" minOccurs="0"/>
                <xsd:element ref="ns4:SharingHintHash"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4c9e7bc-b52f-4330-a26e-913dd5d5fdf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SystemTags" ma:index="14" nillable="true" ma:displayName="MediaServiceSystemTags" ma:hidden="true" ma:internalName="MediaServiceSystemTags" ma:readOnly="true">
      <xsd:simpleType>
        <xsd:restriction base="dms:Note"/>
      </xsd:simpleType>
    </xsd:element>
    <xsd:element name="MediaLengthInSeconds" ma:index="15" nillable="true" ma:displayName="MediaLengthInSeconds" ma:hidden="true" ma:internalName="MediaLengthInSeconds" ma:readOnly="true">
      <xsd:simpleType>
        <xsd:restriction base="dms:Unknown"/>
      </xsd:simpleType>
    </xsd:element>
    <xsd:element name="_activity" ma:index="16" nillable="true" ma:displayName="_activity" ma:hidden="true" ma:internalName="_activity">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f346c77-56cd-4926-9db9-b264d9f18f6a"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SharingHintHash" ma:index="19"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25D2CCE-4F27-42C4-9BB1-0E58DEB3D9FC}">
  <ds:schemaRefs>
    <ds:schemaRef ds:uri="http://schemas.microsoft.com/sharepoint/v3/contenttype/forms"/>
  </ds:schemaRefs>
</ds:datastoreItem>
</file>

<file path=customXml/itemProps2.xml><?xml version="1.0" encoding="utf-8"?>
<ds:datastoreItem xmlns:ds="http://schemas.openxmlformats.org/officeDocument/2006/customXml" ds:itemID="{E4E31B09-B617-4606-AB4C-1527C4889A2F}">
  <ds:schemaRefs>
    <ds:schemaRef ds:uri="http://purl.org/dc/elements/1.1/"/>
    <ds:schemaRef ds:uri="http://schemas.microsoft.com/office/2006/documentManagement/types"/>
    <ds:schemaRef ds:uri="http://www.w3.org/XML/1998/namespace"/>
    <ds:schemaRef ds:uri="2f346c77-56cd-4926-9db9-b264d9f18f6a"/>
    <ds:schemaRef ds:uri="http://purl.org/dc/dcmitype/"/>
    <ds:schemaRef ds:uri="http://schemas.openxmlformats.org/package/2006/metadata/core-properties"/>
    <ds:schemaRef ds:uri="24c9e7bc-b52f-4330-a26e-913dd5d5fdf4"/>
    <ds:schemaRef ds:uri="http://schemas.microsoft.com/office/infopath/2007/PartnerControls"/>
    <ds:schemaRef ds:uri="http://schemas.microsoft.com/office/2006/metadata/properties"/>
    <ds:schemaRef ds:uri="http://purl.org/dc/terms/"/>
  </ds:schemaRefs>
</ds:datastoreItem>
</file>

<file path=customXml/itemProps3.xml><?xml version="1.0" encoding="utf-8"?>
<ds:datastoreItem xmlns:ds="http://schemas.openxmlformats.org/officeDocument/2006/customXml" ds:itemID="{4D2BDAF6-3456-43C9-8D8D-4F847A13260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4c9e7bc-b52f-4330-a26e-913dd5d5fdf4"/>
    <ds:schemaRef ds:uri="2f346c77-56cd-4926-9db9-b264d9f18f6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4ddd393a-e98a-4404-841f-c4becdd925a5}" enabled="0" method="" siteId="{4ddd393a-e98a-4404-841f-c4becdd925a5}" removed="1"/>
</clbl:labelList>
</file>

<file path=docProps/app.xml><?xml version="1.0" encoding="utf-8"?>
<Properties xmlns="http://schemas.openxmlformats.org/officeDocument/2006/extended-properties" xmlns:vt="http://schemas.openxmlformats.org/officeDocument/2006/docPropsVTypes">
  <Template>Theme1</Template>
  <TotalTime>2033</TotalTime>
  <Words>719</Words>
  <Application>Microsoft Office PowerPoint</Application>
  <PresentationFormat>Widescreen</PresentationFormat>
  <Paragraphs>83</Paragraphs>
  <Slides>12</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Aptos</vt:lpstr>
      <vt:lpstr>Arial</vt:lpstr>
      <vt:lpstr>Arial Black</vt:lpstr>
      <vt:lpstr>Avenir Next LT Pro</vt:lpstr>
      <vt:lpstr>Sabon Next LT</vt:lpstr>
      <vt:lpstr>Symbol</vt:lpstr>
      <vt:lpstr>Theme1</vt:lpstr>
      <vt:lpstr>ONTARIO RESEARCH FUNDING SUMMARY</vt:lpstr>
      <vt:lpstr>AGENDA</vt:lpstr>
      <vt:lpstr>EXECUTIVE SUMMARY</vt:lpstr>
      <vt:lpstr>PROBLEM ANALYSIS</vt:lpstr>
      <vt:lpstr>DASHBOARD - 1</vt:lpstr>
      <vt:lpstr>Trends in Funding Allocation</vt:lpstr>
      <vt:lpstr>Project Distribution By Research</vt:lpstr>
      <vt:lpstr>Ontario's financial commitment to actual project costs</vt:lpstr>
      <vt:lpstr>Institutes and Ontario Commitment</vt:lpstr>
      <vt:lpstr>Top 5 Funding by City</vt:lpstr>
      <vt:lpstr>DASHBOARD - 2</vt:lpstr>
      <vt:lpstr>recommendation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Cover</dc:title>
  <dc:creator>Gabriel Castro</dc:creator>
  <cp:lastModifiedBy>Anu Karukayil Chandapilla</cp:lastModifiedBy>
  <cp:revision>19</cp:revision>
  <dcterms:created xsi:type="dcterms:W3CDTF">2024-04-03T13:58:05Z</dcterms:created>
  <dcterms:modified xsi:type="dcterms:W3CDTF">2025-05-02T04:45:17Z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0x010100FCE21C29C6AA8E4483B37A925A9218F0</vt:lpwstr>
  </property>
</Properties>
</file>